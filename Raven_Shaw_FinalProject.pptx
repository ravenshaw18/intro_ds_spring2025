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ileron Ultra-Bold" charset="1" panose="00000A00000000000000"/>
      <p:regular r:id="rId14"/>
    </p:embeddedFont>
    <p:embeddedFont>
      <p:font typeface="Aileron Ultra-Bold Italics" charset="1" panose="00000A00000000000000"/>
      <p:regular r:id="rId15"/>
    </p:embeddedFont>
    <p:embeddedFont>
      <p:font typeface="Public Sans" charset="1" panose="00000000000000000000"/>
      <p:regular r:id="rId16"/>
    </p:embeddedFont>
    <p:embeddedFont>
      <p:font typeface="Public Sans Bold" charset="1" panose="00000000000000000000"/>
      <p:regular r:id="rId17"/>
    </p:embeddedFont>
    <p:embeddedFont>
      <p:font typeface="Aileron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7.jpeg" Type="http://schemas.openxmlformats.org/officeDocument/2006/relationships/image"/><Relationship Id="rId6" Target="../media/image8.png" Type="http://schemas.openxmlformats.org/officeDocument/2006/relationships/image"/><Relationship Id="rId7"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http://localhost:8889/notebooks/Desktop/Projects_DataScience/Raven_Shaw_Final.ipynb" TargetMode="External" Type="http://schemas.openxmlformats.org/officeDocument/2006/relationships/hyperlink"/><Relationship Id="rId4" Target="../media/image18.png" Type="http://schemas.openxmlformats.org/officeDocument/2006/relationships/image"/><Relationship Id="rId5" Target="http://localhost:8889/notebooks/Desktop/Projects_DataScience/Raven_Shaw_Final.ipynb"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9.png" Type="http://schemas.openxmlformats.org/officeDocument/2006/relationships/image"/><Relationship Id="rId4" Target="../media/image20.svg" Type="http://schemas.openxmlformats.org/officeDocument/2006/relationships/image"/><Relationship Id="rId5" Target="../media/image21.jpeg" Type="http://schemas.openxmlformats.org/officeDocument/2006/relationships/image"/><Relationship Id="rId6" Target="../media/image2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3.jpe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4.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777" r="-9579" b="-24805"/>
            </a:stretch>
          </a:blipFill>
        </p:spPr>
      </p:sp>
      <p:sp>
        <p:nvSpPr>
          <p:cNvPr name="Freeform 3" id="3"/>
          <p:cNvSpPr/>
          <p:nvPr/>
        </p:nvSpPr>
        <p:spPr>
          <a:xfrm flipH="false" flipV="false" rot="0">
            <a:off x="1028700" y="865787"/>
            <a:ext cx="705002" cy="691783"/>
          </a:xfrm>
          <a:custGeom>
            <a:avLst/>
            <a:gdLst/>
            <a:ahLst/>
            <a:cxnLst/>
            <a:rect r="r" b="b" t="t" l="l"/>
            <a:pathLst>
              <a:path h="691783" w="705002">
                <a:moveTo>
                  <a:pt x="0" y="0"/>
                </a:moveTo>
                <a:lnTo>
                  <a:pt x="705002" y="0"/>
                </a:lnTo>
                <a:lnTo>
                  <a:pt x="705002" y="691783"/>
                </a:lnTo>
                <a:lnTo>
                  <a:pt x="0" y="6917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5400000">
            <a:off x="9527967" y="859028"/>
            <a:ext cx="8341089" cy="8587993"/>
          </a:xfrm>
          <a:custGeom>
            <a:avLst/>
            <a:gdLst/>
            <a:ahLst/>
            <a:cxnLst/>
            <a:rect r="r" b="b" t="t" l="l"/>
            <a:pathLst>
              <a:path h="8587993" w="8341089">
                <a:moveTo>
                  <a:pt x="0" y="0"/>
                </a:moveTo>
                <a:lnTo>
                  <a:pt x="8341088" y="0"/>
                </a:lnTo>
                <a:lnTo>
                  <a:pt x="8341088" y="8587994"/>
                </a:lnTo>
                <a:lnTo>
                  <a:pt x="0" y="85879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0607694" y="1999375"/>
            <a:ext cx="6346737" cy="6346737"/>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25046" t="0" r="-25046" b="0"/>
              </a:stretch>
            </a:blipFill>
          </p:spPr>
        </p:sp>
      </p:grpSp>
      <p:grpSp>
        <p:nvGrpSpPr>
          <p:cNvPr name="Group 7" id="7"/>
          <p:cNvGrpSpPr/>
          <p:nvPr/>
        </p:nvGrpSpPr>
        <p:grpSpPr>
          <a:xfrm rot="0">
            <a:off x="-161849" y="9982387"/>
            <a:ext cx="18449849" cy="304613"/>
            <a:chOff x="0" y="0"/>
            <a:chExt cx="4859220" cy="80227"/>
          </a:xfrm>
        </p:grpSpPr>
        <p:sp>
          <p:nvSpPr>
            <p:cNvPr name="Freeform 8" id="8"/>
            <p:cNvSpPr/>
            <p:nvPr/>
          </p:nvSpPr>
          <p:spPr>
            <a:xfrm flipH="false" flipV="false" rot="0">
              <a:off x="0" y="0"/>
              <a:ext cx="4859220" cy="80227"/>
            </a:xfrm>
            <a:custGeom>
              <a:avLst/>
              <a:gdLst/>
              <a:ahLst/>
              <a:cxnLst/>
              <a:rect r="r" b="b" t="t" l="l"/>
              <a:pathLst>
                <a:path h="80227" w="4859220">
                  <a:moveTo>
                    <a:pt x="0" y="0"/>
                  </a:moveTo>
                  <a:lnTo>
                    <a:pt x="4859220" y="0"/>
                  </a:lnTo>
                  <a:lnTo>
                    <a:pt x="4859220" y="80227"/>
                  </a:lnTo>
                  <a:lnTo>
                    <a:pt x="0" y="80227"/>
                  </a:lnTo>
                  <a:close/>
                </a:path>
              </a:pathLst>
            </a:custGeom>
            <a:solidFill>
              <a:srgbClr val="004CCF"/>
            </a:solidFill>
          </p:spPr>
        </p:sp>
        <p:sp>
          <p:nvSpPr>
            <p:cNvPr name="TextBox 9" id="9"/>
            <p:cNvSpPr txBox="true"/>
            <p:nvPr/>
          </p:nvSpPr>
          <p:spPr>
            <a:xfrm>
              <a:off x="0" y="-47625"/>
              <a:ext cx="4859220" cy="127852"/>
            </a:xfrm>
            <a:prstGeom prst="rect">
              <a:avLst/>
            </a:prstGeom>
          </p:spPr>
          <p:txBody>
            <a:bodyPr anchor="ctr" rtlCol="false" tIns="50800" lIns="50800" bIns="50800" rIns="50800"/>
            <a:lstStyle/>
            <a:p>
              <a:pPr algn="ctr">
                <a:lnSpc>
                  <a:spcPts val="2886"/>
                </a:lnSpc>
              </a:pPr>
            </a:p>
          </p:txBody>
        </p:sp>
      </p:grpSp>
      <p:sp>
        <p:nvSpPr>
          <p:cNvPr name="TextBox 10" id="10"/>
          <p:cNvSpPr txBox="true"/>
          <p:nvPr/>
        </p:nvSpPr>
        <p:spPr>
          <a:xfrm rot="0">
            <a:off x="1028700" y="1992456"/>
            <a:ext cx="8266432" cy="6212987"/>
          </a:xfrm>
          <a:prstGeom prst="rect">
            <a:avLst/>
          </a:prstGeom>
        </p:spPr>
        <p:txBody>
          <a:bodyPr anchor="t" rtlCol="false" tIns="0" lIns="0" bIns="0" rIns="0">
            <a:spAutoFit/>
          </a:bodyPr>
          <a:lstStyle/>
          <a:p>
            <a:pPr algn="l" marL="0" indent="0" lvl="0">
              <a:lnSpc>
                <a:spcPts val="8110"/>
              </a:lnSpc>
              <a:spcBef>
                <a:spcPct val="0"/>
              </a:spcBef>
            </a:pPr>
            <a:r>
              <a:rPr lang="en-US" b="true" sz="7651">
                <a:solidFill>
                  <a:srgbClr val="004CCF"/>
                </a:solidFill>
                <a:latin typeface="Aileron Ultra-Bold"/>
                <a:ea typeface="Aileron Ultra-Bold"/>
                <a:cs typeface="Aileron Ultra-Bold"/>
                <a:sym typeface="Aileron Ultra-Bold"/>
              </a:rPr>
              <a:t>Global Housing Market Dynamics Amid the COVID-19 Pandemic: </a:t>
            </a:r>
            <a:r>
              <a:rPr lang="en-US" b="true" sz="7651" i="true">
                <a:solidFill>
                  <a:srgbClr val="004CCF"/>
                </a:solidFill>
                <a:latin typeface="Aileron Ultra-Bold Italics"/>
                <a:ea typeface="Aileron Ultra-Bold Italics"/>
                <a:cs typeface="Aileron Ultra-Bold Italics"/>
                <a:sym typeface="Aileron Ultra-Bold Italics"/>
              </a:rPr>
              <a:t>A Data Driven Analysis</a:t>
            </a:r>
          </a:p>
        </p:txBody>
      </p:sp>
      <p:sp>
        <p:nvSpPr>
          <p:cNvPr name="TextBox 11" id="11"/>
          <p:cNvSpPr txBox="true"/>
          <p:nvPr/>
        </p:nvSpPr>
        <p:spPr>
          <a:xfrm rot="0">
            <a:off x="1028700" y="8457357"/>
            <a:ext cx="2740571" cy="391795"/>
          </a:xfrm>
          <a:prstGeom prst="rect">
            <a:avLst/>
          </a:prstGeom>
        </p:spPr>
        <p:txBody>
          <a:bodyPr anchor="t" rtlCol="false" tIns="0" lIns="0" bIns="0" rIns="0">
            <a:spAutoFit/>
          </a:bodyPr>
          <a:lstStyle/>
          <a:p>
            <a:pPr algn="l">
              <a:lnSpc>
                <a:spcPts val="3079"/>
              </a:lnSpc>
            </a:pPr>
            <a:r>
              <a:rPr lang="en-US" sz="2199">
                <a:solidFill>
                  <a:srgbClr val="000000"/>
                </a:solidFill>
                <a:latin typeface="Public Sans"/>
                <a:ea typeface="Public Sans"/>
                <a:cs typeface="Public Sans"/>
                <a:sym typeface="Public Sans"/>
              </a:rPr>
              <a:t>Presented by</a:t>
            </a:r>
          </a:p>
        </p:txBody>
      </p:sp>
      <p:sp>
        <p:nvSpPr>
          <p:cNvPr name="TextBox 12" id="12"/>
          <p:cNvSpPr txBox="true"/>
          <p:nvPr/>
        </p:nvSpPr>
        <p:spPr>
          <a:xfrm rot="0">
            <a:off x="1028700" y="8752087"/>
            <a:ext cx="3284833" cy="561957"/>
          </a:xfrm>
          <a:prstGeom prst="rect">
            <a:avLst/>
          </a:prstGeom>
        </p:spPr>
        <p:txBody>
          <a:bodyPr anchor="t" rtlCol="false" tIns="0" lIns="0" bIns="0" rIns="0">
            <a:spAutoFit/>
          </a:bodyPr>
          <a:lstStyle/>
          <a:p>
            <a:pPr algn="l">
              <a:lnSpc>
                <a:spcPts val="4501"/>
              </a:lnSpc>
            </a:pPr>
            <a:r>
              <a:rPr lang="en-US" sz="3215" b="true">
                <a:solidFill>
                  <a:srgbClr val="004CCF"/>
                </a:solidFill>
                <a:latin typeface="Public Sans Bold"/>
                <a:ea typeface="Public Sans Bold"/>
                <a:cs typeface="Public Sans Bold"/>
                <a:sym typeface="Public Sans Bold"/>
              </a:rPr>
              <a:t>Raven Shaw</a:t>
            </a:r>
          </a:p>
        </p:txBody>
      </p:sp>
      <p:sp>
        <p:nvSpPr>
          <p:cNvPr name="TextBox 13" id="13"/>
          <p:cNvSpPr txBox="true"/>
          <p:nvPr/>
        </p:nvSpPr>
        <p:spPr>
          <a:xfrm rot="0">
            <a:off x="1891839" y="944366"/>
            <a:ext cx="6044792" cy="477476"/>
          </a:xfrm>
          <a:prstGeom prst="rect">
            <a:avLst/>
          </a:prstGeom>
        </p:spPr>
        <p:txBody>
          <a:bodyPr anchor="t" rtlCol="false" tIns="0" lIns="0" bIns="0" rIns="0">
            <a:spAutoFit/>
          </a:bodyPr>
          <a:lstStyle/>
          <a:p>
            <a:pPr algn="l">
              <a:lnSpc>
                <a:spcPts val="3872"/>
              </a:lnSpc>
              <a:spcBef>
                <a:spcPct val="0"/>
              </a:spcBef>
            </a:pPr>
            <a:r>
              <a:rPr lang="en-US" sz="2765" b="true">
                <a:solidFill>
                  <a:srgbClr val="000000"/>
                </a:solidFill>
                <a:latin typeface="Public Sans Bold"/>
                <a:ea typeface="Public Sans Bold"/>
                <a:cs typeface="Public Sans Bold"/>
                <a:sym typeface="Public Sans Bold"/>
              </a:rPr>
              <a:t>Intro to Data Science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4395" r="-19706" b="-15902"/>
            </a:stretch>
          </a:blipFill>
        </p:spPr>
      </p:sp>
      <p:grpSp>
        <p:nvGrpSpPr>
          <p:cNvPr name="Group 3" id="3"/>
          <p:cNvGrpSpPr/>
          <p:nvPr/>
        </p:nvGrpSpPr>
        <p:grpSpPr>
          <a:xfrm rot="0">
            <a:off x="10182235" y="-1876733"/>
            <a:ext cx="10566978" cy="10263177"/>
            <a:chOff x="0" y="0"/>
            <a:chExt cx="14089304" cy="13684236"/>
          </a:xfrm>
        </p:grpSpPr>
        <p:sp>
          <p:nvSpPr>
            <p:cNvPr name="Freeform 4" id="4"/>
            <p:cNvSpPr/>
            <p:nvPr/>
          </p:nvSpPr>
          <p:spPr>
            <a:xfrm flipH="true" flipV="false" rot="5400000">
              <a:off x="202534" y="-202534"/>
              <a:ext cx="13684236" cy="14089304"/>
            </a:xfrm>
            <a:custGeom>
              <a:avLst/>
              <a:gdLst/>
              <a:ahLst/>
              <a:cxnLst/>
              <a:rect r="r" b="b" t="t" l="l"/>
              <a:pathLst>
                <a:path h="14089304" w="13684236">
                  <a:moveTo>
                    <a:pt x="13684236" y="0"/>
                  </a:moveTo>
                  <a:lnTo>
                    <a:pt x="0" y="0"/>
                  </a:lnTo>
                  <a:lnTo>
                    <a:pt x="0" y="14089304"/>
                  </a:lnTo>
                  <a:lnTo>
                    <a:pt x="13684236" y="14089304"/>
                  </a:lnTo>
                  <a:lnTo>
                    <a:pt x="13684236"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882552" y="1516912"/>
              <a:ext cx="10595064" cy="1059506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14931" t="0" r="-34880" b="0"/>
                </a:stretch>
              </a:blipFill>
            </p:spPr>
          </p:sp>
        </p:grpSp>
      </p:grpSp>
      <p:sp>
        <p:nvSpPr>
          <p:cNvPr name="Freeform 7" id="7"/>
          <p:cNvSpPr/>
          <p:nvPr/>
        </p:nvSpPr>
        <p:spPr>
          <a:xfrm flipH="false" flipV="false" rot="0">
            <a:off x="937129" y="7737341"/>
            <a:ext cx="258578" cy="258578"/>
          </a:xfrm>
          <a:custGeom>
            <a:avLst/>
            <a:gdLst/>
            <a:ahLst/>
            <a:cxnLst/>
            <a:rect r="r" b="b" t="t" l="l"/>
            <a:pathLst>
              <a:path h="258578" w="258578">
                <a:moveTo>
                  <a:pt x="0" y="0"/>
                </a:moveTo>
                <a:lnTo>
                  <a:pt x="258578" y="0"/>
                </a:lnTo>
                <a:lnTo>
                  <a:pt x="258578" y="258579"/>
                </a:lnTo>
                <a:lnTo>
                  <a:pt x="0" y="2585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937129" y="8108816"/>
            <a:ext cx="258578" cy="258578"/>
          </a:xfrm>
          <a:custGeom>
            <a:avLst/>
            <a:gdLst/>
            <a:ahLst/>
            <a:cxnLst/>
            <a:rect r="r" b="b" t="t" l="l"/>
            <a:pathLst>
              <a:path h="258578" w="258578">
                <a:moveTo>
                  <a:pt x="0" y="0"/>
                </a:moveTo>
                <a:lnTo>
                  <a:pt x="258578" y="0"/>
                </a:lnTo>
                <a:lnTo>
                  <a:pt x="258578" y="258579"/>
                </a:lnTo>
                <a:lnTo>
                  <a:pt x="0" y="2585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937129" y="8512677"/>
            <a:ext cx="258578" cy="258578"/>
          </a:xfrm>
          <a:custGeom>
            <a:avLst/>
            <a:gdLst/>
            <a:ahLst/>
            <a:cxnLst/>
            <a:rect r="r" b="b" t="t" l="l"/>
            <a:pathLst>
              <a:path h="258578" w="258578">
                <a:moveTo>
                  <a:pt x="0" y="0"/>
                </a:moveTo>
                <a:lnTo>
                  <a:pt x="258578" y="0"/>
                </a:lnTo>
                <a:lnTo>
                  <a:pt x="258578" y="258578"/>
                </a:lnTo>
                <a:lnTo>
                  <a:pt x="0" y="258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11235853" y="8761730"/>
            <a:ext cx="4097355" cy="409735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2F2"/>
            </a:solidFill>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2939"/>
                </a:lnSpc>
              </a:pPr>
            </a:p>
          </p:txBody>
        </p:sp>
      </p:grpSp>
      <p:grpSp>
        <p:nvGrpSpPr>
          <p:cNvPr name="Group 13" id="13"/>
          <p:cNvGrpSpPr/>
          <p:nvPr/>
        </p:nvGrpSpPr>
        <p:grpSpPr>
          <a:xfrm rot="0">
            <a:off x="14665921" y="9111630"/>
            <a:ext cx="1008928" cy="1008928"/>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A93F6"/>
            </a:solidFill>
          </p:spPr>
        </p:sp>
        <p:sp>
          <p:nvSpPr>
            <p:cNvPr name="TextBox 15" id="15"/>
            <p:cNvSpPr txBox="true"/>
            <p:nvPr/>
          </p:nvSpPr>
          <p:spPr>
            <a:xfrm>
              <a:off x="76200" y="19050"/>
              <a:ext cx="660400" cy="717550"/>
            </a:xfrm>
            <a:prstGeom prst="rect">
              <a:avLst/>
            </a:prstGeom>
          </p:spPr>
          <p:txBody>
            <a:bodyPr anchor="ctr" rtlCol="false" tIns="50800" lIns="50800" bIns="50800" rIns="50800"/>
            <a:lstStyle/>
            <a:p>
              <a:pPr algn="ctr">
                <a:lnSpc>
                  <a:spcPts val="2939"/>
                </a:lnSpc>
              </a:pPr>
            </a:p>
          </p:txBody>
        </p:sp>
      </p:grpSp>
      <p:grpSp>
        <p:nvGrpSpPr>
          <p:cNvPr name="Group 16" id="16"/>
          <p:cNvGrpSpPr/>
          <p:nvPr/>
        </p:nvGrpSpPr>
        <p:grpSpPr>
          <a:xfrm rot="0">
            <a:off x="11959371" y="8023941"/>
            <a:ext cx="352978" cy="35297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CCF"/>
            </a:solidFill>
          </p:spPr>
        </p:sp>
        <p:sp>
          <p:nvSpPr>
            <p:cNvPr name="TextBox 18" id="18"/>
            <p:cNvSpPr txBox="true"/>
            <p:nvPr/>
          </p:nvSpPr>
          <p:spPr>
            <a:xfrm>
              <a:off x="76200" y="19050"/>
              <a:ext cx="660400" cy="717550"/>
            </a:xfrm>
            <a:prstGeom prst="rect">
              <a:avLst/>
            </a:prstGeom>
          </p:spPr>
          <p:txBody>
            <a:bodyPr anchor="ctr" rtlCol="false" tIns="50800" lIns="50800" bIns="50800" rIns="50800"/>
            <a:lstStyle/>
            <a:p>
              <a:pPr algn="ctr">
                <a:lnSpc>
                  <a:spcPts val="2939"/>
                </a:lnSpc>
              </a:pPr>
            </a:p>
          </p:txBody>
        </p:sp>
      </p:grpSp>
      <p:sp>
        <p:nvSpPr>
          <p:cNvPr name="TextBox 19" id="19"/>
          <p:cNvSpPr txBox="true"/>
          <p:nvPr/>
        </p:nvSpPr>
        <p:spPr>
          <a:xfrm rot="0">
            <a:off x="923925" y="1231879"/>
            <a:ext cx="8652383" cy="719957"/>
          </a:xfrm>
          <a:prstGeom prst="rect">
            <a:avLst/>
          </a:prstGeom>
        </p:spPr>
        <p:txBody>
          <a:bodyPr anchor="t" rtlCol="false" tIns="0" lIns="0" bIns="0" rIns="0">
            <a:spAutoFit/>
          </a:bodyPr>
          <a:lstStyle/>
          <a:p>
            <a:pPr algn="l" marL="0" indent="0" lvl="0">
              <a:lnSpc>
                <a:spcPts val="5443"/>
              </a:lnSpc>
              <a:spcBef>
                <a:spcPct val="0"/>
              </a:spcBef>
            </a:pPr>
            <a:r>
              <a:rPr lang="en-US" b="true" sz="5135">
                <a:solidFill>
                  <a:srgbClr val="004CCF"/>
                </a:solidFill>
                <a:latin typeface="Aileron Ultra-Bold"/>
                <a:ea typeface="Aileron Ultra-Bold"/>
                <a:cs typeface="Aileron Ultra-Bold"/>
                <a:sym typeface="Aileron Ultra-Bold"/>
              </a:rPr>
              <a:t>Objective of this Project</a:t>
            </a:r>
          </a:p>
        </p:txBody>
      </p:sp>
      <p:sp>
        <p:nvSpPr>
          <p:cNvPr name="TextBox 20" id="20"/>
          <p:cNvSpPr txBox="true"/>
          <p:nvPr/>
        </p:nvSpPr>
        <p:spPr>
          <a:xfrm rot="0">
            <a:off x="923925" y="2301798"/>
            <a:ext cx="8881764" cy="1672590"/>
          </a:xfrm>
          <a:prstGeom prst="rect">
            <a:avLst/>
          </a:prstGeom>
        </p:spPr>
        <p:txBody>
          <a:bodyPr anchor="t" rtlCol="false" tIns="0" lIns="0" bIns="0" rIns="0">
            <a:spAutoFit/>
          </a:bodyPr>
          <a:lstStyle/>
          <a:p>
            <a:pPr algn="just">
              <a:lnSpc>
                <a:spcPts val="3359"/>
              </a:lnSpc>
            </a:pPr>
            <a:r>
              <a:rPr lang="en-US" sz="2399">
                <a:solidFill>
                  <a:srgbClr val="000000"/>
                </a:solidFill>
                <a:latin typeface="Public Sans"/>
                <a:ea typeface="Public Sans"/>
                <a:cs typeface="Public Sans"/>
                <a:sym typeface="Public Sans"/>
              </a:rPr>
              <a:t>This project aims to analyze </a:t>
            </a:r>
            <a:r>
              <a:rPr lang="en-US" sz="2399" b="true">
                <a:solidFill>
                  <a:srgbClr val="000000"/>
                </a:solidFill>
                <a:latin typeface="Public Sans Bold"/>
                <a:ea typeface="Public Sans Bold"/>
                <a:cs typeface="Public Sans Bold"/>
                <a:sym typeface="Public Sans Bold"/>
              </a:rPr>
              <a:t>global housing market trends</a:t>
            </a:r>
            <a:r>
              <a:rPr lang="en-US" sz="2399">
                <a:solidFill>
                  <a:srgbClr val="000000"/>
                </a:solidFill>
                <a:latin typeface="Public Sans"/>
                <a:ea typeface="Public Sans"/>
                <a:cs typeface="Public Sans"/>
                <a:sym typeface="Public Sans"/>
              </a:rPr>
              <a:t> during the COVID-19 pandemic, focusing on factors such as affordability, the house price index, urbanization, population growth, GDP, and inflation across different regions. </a:t>
            </a:r>
          </a:p>
        </p:txBody>
      </p:sp>
      <p:sp>
        <p:nvSpPr>
          <p:cNvPr name="TextBox 21" id="21"/>
          <p:cNvSpPr txBox="true"/>
          <p:nvPr/>
        </p:nvSpPr>
        <p:spPr>
          <a:xfrm rot="0">
            <a:off x="923925" y="4460164"/>
            <a:ext cx="8881764" cy="2510790"/>
          </a:xfrm>
          <a:prstGeom prst="rect">
            <a:avLst/>
          </a:prstGeom>
        </p:spPr>
        <p:txBody>
          <a:bodyPr anchor="t" rtlCol="false" tIns="0" lIns="0" bIns="0" rIns="0">
            <a:spAutoFit/>
          </a:bodyPr>
          <a:lstStyle/>
          <a:p>
            <a:pPr algn="just">
              <a:lnSpc>
                <a:spcPts val="3359"/>
              </a:lnSpc>
            </a:pPr>
            <a:r>
              <a:rPr lang="en-US" sz="2399">
                <a:solidFill>
                  <a:srgbClr val="000000"/>
                </a:solidFill>
                <a:latin typeface="Public Sans"/>
                <a:ea typeface="Public Sans"/>
                <a:cs typeface="Public Sans"/>
                <a:sym typeface="Public Sans"/>
              </a:rPr>
              <a:t>By examining housing market data of the years </a:t>
            </a:r>
            <a:r>
              <a:rPr lang="en-US" sz="2399" b="true">
                <a:solidFill>
                  <a:srgbClr val="000000"/>
                </a:solidFill>
                <a:latin typeface="Public Sans Bold"/>
                <a:ea typeface="Public Sans Bold"/>
                <a:cs typeface="Public Sans Bold"/>
                <a:sym typeface="Public Sans Bold"/>
              </a:rPr>
              <a:t>2020 and 2023,</a:t>
            </a:r>
            <a:r>
              <a:rPr lang="en-US" sz="2399">
                <a:solidFill>
                  <a:srgbClr val="000000"/>
                </a:solidFill>
                <a:latin typeface="Public Sans"/>
                <a:ea typeface="Public Sans"/>
                <a:cs typeface="Public Sans"/>
                <a:sym typeface="Public Sans"/>
              </a:rPr>
              <a:t> the analysis seeks to explore how the pandemic may have acted as an externality influencing the patterns observed. Overall, the findings will provide insights into both the short- and long-term </a:t>
            </a:r>
            <a:r>
              <a:rPr lang="en-US" sz="2399" b="true">
                <a:solidFill>
                  <a:srgbClr val="000000"/>
                </a:solidFill>
                <a:latin typeface="Public Sans Bold"/>
                <a:ea typeface="Public Sans Bold"/>
                <a:cs typeface="Public Sans Bold"/>
                <a:sym typeface="Public Sans Bold"/>
              </a:rPr>
              <a:t>impacts</a:t>
            </a:r>
            <a:r>
              <a:rPr lang="en-US" sz="2399">
                <a:solidFill>
                  <a:srgbClr val="000000"/>
                </a:solidFill>
                <a:latin typeface="Public Sans"/>
                <a:ea typeface="Public Sans"/>
                <a:cs typeface="Public Sans"/>
                <a:sym typeface="Public Sans"/>
              </a:rPr>
              <a:t> of global crises on real estate markets.</a:t>
            </a:r>
          </a:p>
        </p:txBody>
      </p:sp>
      <p:sp>
        <p:nvSpPr>
          <p:cNvPr name="TextBox 22" id="22"/>
          <p:cNvSpPr txBox="true"/>
          <p:nvPr/>
        </p:nvSpPr>
        <p:spPr>
          <a:xfrm rot="0">
            <a:off x="1281421" y="7650413"/>
            <a:ext cx="8881764" cy="375285"/>
          </a:xfrm>
          <a:prstGeom prst="rect">
            <a:avLst/>
          </a:prstGeom>
        </p:spPr>
        <p:txBody>
          <a:bodyPr anchor="t" rtlCol="false" tIns="0" lIns="0" bIns="0" rIns="0">
            <a:spAutoFit/>
          </a:bodyPr>
          <a:lstStyle/>
          <a:p>
            <a:pPr algn="just">
              <a:lnSpc>
                <a:spcPts val="2939"/>
              </a:lnSpc>
            </a:pPr>
            <a:r>
              <a:rPr lang="en-US" sz="2099" b="true">
                <a:solidFill>
                  <a:srgbClr val="000000"/>
                </a:solidFill>
                <a:latin typeface="Public Sans Bold"/>
                <a:ea typeface="Public Sans Bold"/>
                <a:cs typeface="Public Sans Bold"/>
                <a:sym typeface="Public Sans Bold"/>
              </a:rPr>
              <a:t>Introduction to the dataset</a:t>
            </a:r>
          </a:p>
        </p:txBody>
      </p:sp>
      <p:sp>
        <p:nvSpPr>
          <p:cNvPr name="TextBox 23" id="23"/>
          <p:cNvSpPr txBox="true"/>
          <p:nvPr/>
        </p:nvSpPr>
        <p:spPr>
          <a:xfrm rot="0">
            <a:off x="1281421" y="8021888"/>
            <a:ext cx="8881764" cy="375285"/>
          </a:xfrm>
          <a:prstGeom prst="rect">
            <a:avLst/>
          </a:prstGeom>
        </p:spPr>
        <p:txBody>
          <a:bodyPr anchor="t" rtlCol="false" tIns="0" lIns="0" bIns="0" rIns="0">
            <a:spAutoFit/>
          </a:bodyPr>
          <a:lstStyle/>
          <a:p>
            <a:pPr algn="just">
              <a:lnSpc>
                <a:spcPts val="2939"/>
              </a:lnSpc>
            </a:pPr>
            <a:r>
              <a:rPr lang="en-US" sz="2099" b="true">
                <a:solidFill>
                  <a:srgbClr val="000000"/>
                </a:solidFill>
                <a:latin typeface="Public Sans Bold"/>
                <a:ea typeface="Public Sans Bold"/>
                <a:cs typeface="Public Sans Bold"/>
                <a:sym typeface="Public Sans Bold"/>
              </a:rPr>
              <a:t>Cleaning and Wrangling Methods</a:t>
            </a:r>
          </a:p>
        </p:txBody>
      </p:sp>
      <p:sp>
        <p:nvSpPr>
          <p:cNvPr name="TextBox 24" id="24"/>
          <p:cNvSpPr txBox="true"/>
          <p:nvPr/>
        </p:nvSpPr>
        <p:spPr>
          <a:xfrm rot="0">
            <a:off x="1281421" y="8425748"/>
            <a:ext cx="8881764" cy="375285"/>
          </a:xfrm>
          <a:prstGeom prst="rect">
            <a:avLst/>
          </a:prstGeom>
        </p:spPr>
        <p:txBody>
          <a:bodyPr anchor="t" rtlCol="false" tIns="0" lIns="0" bIns="0" rIns="0">
            <a:spAutoFit/>
          </a:bodyPr>
          <a:lstStyle/>
          <a:p>
            <a:pPr algn="just">
              <a:lnSpc>
                <a:spcPts val="2939"/>
              </a:lnSpc>
            </a:pPr>
            <a:r>
              <a:rPr lang="en-US" sz="2099" b="true">
                <a:solidFill>
                  <a:srgbClr val="000000"/>
                </a:solidFill>
                <a:latin typeface="Public Sans Bold"/>
                <a:ea typeface="Public Sans Bold"/>
                <a:cs typeface="Public Sans Bold"/>
                <a:sym typeface="Public Sans Bold"/>
              </a:rPr>
              <a:t>Data Visualizations</a:t>
            </a:r>
          </a:p>
        </p:txBody>
      </p:sp>
      <p:sp>
        <p:nvSpPr>
          <p:cNvPr name="TextBox 25" id="25"/>
          <p:cNvSpPr txBox="true"/>
          <p:nvPr/>
        </p:nvSpPr>
        <p:spPr>
          <a:xfrm rot="0">
            <a:off x="923925" y="7122857"/>
            <a:ext cx="8881764" cy="464821"/>
          </a:xfrm>
          <a:prstGeom prst="rect">
            <a:avLst/>
          </a:prstGeom>
        </p:spPr>
        <p:txBody>
          <a:bodyPr anchor="t" rtlCol="false" tIns="0" lIns="0" bIns="0" rIns="0">
            <a:spAutoFit/>
          </a:bodyPr>
          <a:lstStyle/>
          <a:p>
            <a:pPr algn="just">
              <a:lnSpc>
                <a:spcPts val="3779"/>
              </a:lnSpc>
            </a:pPr>
            <a:r>
              <a:rPr lang="en-US" sz="2699" b="true">
                <a:solidFill>
                  <a:srgbClr val="004CCF"/>
                </a:solidFill>
                <a:latin typeface="Public Sans Bold"/>
                <a:ea typeface="Public Sans Bold"/>
                <a:cs typeface="Public Sans Bold"/>
                <a:sym typeface="Public Sans Bold"/>
              </a:rPr>
              <a:t>This presentation will cover:</a:t>
            </a:r>
          </a:p>
        </p:txBody>
      </p:sp>
      <p:sp>
        <p:nvSpPr>
          <p:cNvPr name="Freeform 26" id="26"/>
          <p:cNvSpPr/>
          <p:nvPr/>
        </p:nvSpPr>
        <p:spPr>
          <a:xfrm flipH="false" flipV="false" rot="0">
            <a:off x="937129" y="8914130"/>
            <a:ext cx="258578" cy="258578"/>
          </a:xfrm>
          <a:custGeom>
            <a:avLst/>
            <a:gdLst/>
            <a:ahLst/>
            <a:cxnLst/>
            <a:rect r="r" b="b" t="t" l="l"/>
            <a:pathLst>
              <a:path h="258578" w="258578">
                <a:moveTo>
                  <a:pt x="0" y="0"/>
                </a:moveTo>
                <a:lnTo>
                  <a:pt x="258578" y="0"/>
                </a:lnTo>
                <a:lnTo>
                  <a:pt x="258578" y="258578"/>
                </a:lnTo>
                <a:lnTo>
                  <a:pt x="0" y="258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937129" y="9315583"/>
            <a:ext cx="258578" cy="258578"/>
          </a:xfrm>
          <a:custGeom>
            <a:avLst/>
            <a:gdLst/>
            <a:ahLst/>
            <a:cxnLst/>
            <a:rect r="r" b="b" t="t" l="l"/>
            <a:pathLst>
              <a:path h="258578" w="258578">
                <a:moveTo>
                  <a:pt x="0" y="0"/>
                </a:moveTo>
                <a:lnTo>
                  <a:pt x="258578" y="0"/>
                </a:lnTo>
                <a:lnTo>
                  <a:pt x="258578" y="258578"/>
                </a:lnTo>
                <a:lnTo>
                  <a:pt x="0" y="25857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8" id="28"/>
          <p:cNvSpPr txBox="true"/>
          <p:nvPr/>
        </p:nvSpPr>
        <p:spPr>
          <a:xfrm rot="0">
            <a:off x="1300471" y="8827201"/>
            <a:ext cx="8881764" cy="375285"/>
          </a:xfrm>
          <a:prstGeom prst="rect">
            <a:avLst/>
          </a:prstGeom>
        </p:spPr>
        <p:txBody>
          <a:bodyPr anchor="t" rtlCol="false" tIns="0" lIns="0" bIns="0" rIns="0">
            <a:spAutoFit/>
          </a:bodyPr>
          <a:lstStyle/>
          <a:p>
            <a:pPr algn="just">
              <a:lnSpc>
                <a:spcPts val="2939"/>
              </a:lnSpc>
            </a:pPr>
            <a:r>
              <a:rPr lang="en-US" sz="2099" b="true">
                <a:solidFill>
                  <a:srgbClr val="000000"/>
                </a:solidFill>
                <a:latin typeface="Public Sans Bold"/>
                <a:ea typeface="Public Sans Bold"/>
                <a:cs typeface="Public Sans Bold"/>
                <a:sym typeface="Public Sans Bold"/>
              </a:rPr>
              <a:t>Key Takeaways</a:t>
            </a:r>
          </a:p>
        </p:txBody>
      </p:sp>
      <p:sp>
        <p:nvSpPr>
          <p:cNvPr name="TextBox 29" id="29"/>
          <p:cNvSpPr txBox="true"/>
          <p:nvPr/>
        </p:nvSpPr>
        <p:spPr>
          <a:xfrm rot="0">
            <a:off x="1300471" y="9228654"/>
            <a:ext cx="8881764" cy="375285"/>
          </a:xfrm>
          <a:prstGeom prst="rect">
            <a:avLst/>
          </a:prstGeom>
        </p:spPr>
        <p:txBody>
          <a:bodyPr anchor="t" rtlCol="false" tIns="0" lIns="0" bIns="0" rIns="0">
            <a:spAutoFit/>
          </a:bodyPr>
          <a:lstStyle/>
          <a:p>
            <a:pPr algn="just">
              <a:lnSpc>
                <a:spcPts val="2939"/>
              </a:lnSpc>
            </a:pPr>
            <a:r>
              <a:rPr lang="en-US" sz="2099" b="true">
                <a:solidFill>
                  <a:srgbClr val="000000"/>
                </a:solidFill>
                <a:latin typeface="Public Sans Bold"/>
                <a:ea typeface="Public Sans Bold"/>
                <a:cs typeface="Public Sans Bold"/>
                <a:sym typeface="Public Sans Bold"/>
              </a:rPr>
              <a:t>Conclusion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9579" t="-37583" r="0" b="0"/>
            </a:stretch>
          </a:blipFill>
        </p:spPr>
      </p:sp>
      <p:grpSp>
        <p:nvGrpSpPr>
          <p:cNvPr name="Group 3" id="3"/>
          <p:cNvGrpSpPr/>
          <p:nvPr/>
        </p:nvGrpSpPr>
        <p:grpSpPr>
          <a:xfrm rot="0">
            <a:off x="11411774" y="-4958842"/>
            <a:ext cx="13478005" cy="1347800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62F2"/>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a:lnSpc>
                  <a:spcPts val="3258"/>
                </a:lnSpc>
              </a:pPr>
            </a:p>
          </p:txBody>
        </p:sp>
      </p:grpSp>
      <p:sp>
        <p:nvSpPr>
          <p:cNvPr name="Freeform 6" id="6"/>
          <p:cNvSpPr/>
          <p:nvPr/>
        </p:nvSpPr>
        <p:spPr>
          <a:xfrm flipH="false" flipV="false" rot="2700000">
            <a:off x="11894848" y="3553131"/>
            <a:ext cx="6562870" cy="6365984"/>
          </a:xfrm>
          <a:custGeom>
            <a:avLst/>
            <a:gdLst/>
            <a:ahLst/>
            <a:cxnLst/>
            <a:rect r="r" b="b" t="t" l="l"/>
            <a:pathLst>
              <a:path h="6365984" w="6562870">
                <a:moveTo>
                  <a:pt x="0" y="0"/>
                </a:moveTo>
                <a:lnTo>
                  <a:pt x="6562870" y="0"/>
                </a:lnTo>
                <a:lnTo>
                  <a:pt x="6562870" y="6365984"/>
                </a:lnTo>
                <a:lnTo>
                  <a:pt x="0" y="636598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7" id="7"/>
          <p:cNvGrpSpPr/>
          <p:nvPr/>
        </p:nvGrpSpPr>
        <p:grpSpPr>
          <a:xfrm rot="0">
            <a:off x="12637812" y="4313087"/>
            <a:ext cx="5115599" cy="5115599"/>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sp>
        <p:nvSpPr>
          <p:cNvPr name="TextBox 9" id="9"/>
          <p:cNvSpPr txBox="true"/>
          <p:nvPr/>
        </p:nvSpPr>
        <p:spPr>
          <a:xfrm rot="0">
            <a:off x="1028700" y="1316466"/>
            <a:ext cx="9277743" cy="719957"/>
          </a:xfrm>
          <a:prstGeom prst="rect">
            <a:avLst/>
          </a:prstGeom>
        </p:spPr>
        <p:txBody>
          <a:bodyPr anchor="t" rtlCol="false" tIns="0" lIns="0" bIns="0" rIns="0">
            <a:spAutoFit/>
          </a:bodyPr>
          <a:lstStyle/>
          <a:p>
            <a:pPr algn="l" marL="0" indent="0" lvl="0">
              <a:lnSpc>
                <a:spcPts val="5443"/>
              </a:lnSpc>
              <a:spcBef>
                <a:spcPct val="0"/>
              </a:spcBef>
            </a:pPr>
            <a:r>
              <a:rPr lang="en-US" b="true" sz="5135">
                <a:solidFill>
                  <a:srgbClr val="004CCF"/>
                </a:solidFill>
                <a:latin typeface="Aileron Ultra-Bold"/>
                <a:ea typeface="Aileron Ultra-Bold"/>
                <a:cs typeface="Aileron Ultra-Bold"/>
                <a:sym typeface="Aileron Ultra-Bold"/>
              </a:rPr>
              <a:t>Introduction to the Dataset</a:t>
            </a:r>
          </a:p>
        </p:txBody>
      </p:sp>
      <p:sp>
        <p:nvSpPr>
          <p:cNvPr name="TextBox 10" id="10"/>
          <p:cNvSpPr txBox="true"/>
          <p:nvPr/>
        </p:nvSpPr>
        <p:spPr>
          <a:xfrm rot="0">
            <a:off x="1028700" y="2107933"/>
            <a:ext cx="9277743" cy="2184400"/>
          </a:xfrm>
          <a:prstGeom prst="rect">
            <a:avLst/>
          </a:prstGeom>
        </p:spPr>
        <p:txBody>
          <a:bodyPr anchor="t" rtlCol="false" tIns="0" lIns="0" bIns="0" rIns="0">
            <a:spAutoFit/>
          </a:bodyPr>
          <a:lstStyle/>
          <a:p>
            <a:pPr algn="just">
              <a:lnSpc>
                <a:spcPts val="3499"/>
              </a:lnSpc>
            </a:pPr>
            <a:r>
              <a:rPr lang="en-US" sz="2499">
                <a:solidFill>
                  <a:srgbClr val="000000"/>
                </a:solidFill>
                <a:latin typeface="Public Sans"/>
                <a:ea typeface="Public Sans"/>
                <a:cs typeface="Public Sans"/>
                <a:sym typeface="Public Sans"/>
              </a:rPr>
              <a:t>The dataset for this project comes from Kaggle and is titled "Global Housing Market Analysis (2015–2024)." It provides extensive information on key economic factors across multiple countries. Nevertheless, for this project, I ultimately narrowed the dataset down to the years 2020 and 2023.</a:t>
            </a:r>
          </a:p>
        </p:txBody>
      </p:sp>
      <p:sp>
        <p:nvSpPr>
          <p:cNvPr name="TextBox 11" id="11"/>
          <p:cNvSpPr txBox="true"/>
          <p:nvPr/>
        </p:nvSpPr>
        <p:spPr>
          <a:xfrm rot="0">
            <a:off x="1028700" y="5565301"/>
            <a:ext cx="9277743" cy="782320"/>
          </a:xfrm>
          <a:prstGeom prst="rect">
            <a:avLst/>
          </a:prstGeom>
        </p:spPr>
        <p:txBody>
          <a:bodyPr anchor="t" rtlCol="false" tIns="0" lIns="0" bIns="0" rIns="0">
            <a:spAutoFit/>
          </a:bodyPr>
          <a:lstStyle/>
          <a:p>
            <a:pPr algn="just" marL="474978" indent="-237489" lvl="1">
              <a:lnSpc>
                <a:spcPts val="3079"/>
              </a:lnSpc>
              <a:buFont typeface="Arial"/>
              <a:buChar char="•"/>
            </a:pPr>
            <a:r>
              <a:rPr lang="en-US" sz="2199">
                <a:solidFill>
                  <a:srgbClr val="000000"/>
                </a:solidFill>
                <a:latin typeface="Public Sans"/>
                <a:ea typeface="Public Sans"/>
                <a:cs typeface="Public Sans"/>
                <a:sym typeface="Public Sans"/>
              </a:rPr>
              <a:t>House Price Index - The average price of houses in USD </a:t>
            </a:r>
          </a:p>
          <a:p>
            <a:pPr algn="just" marL="474978" indent="-237489" lvl="1">
              <a:lnSpc>
                <a:spcPts val="3079"/>
              </a:lnSpc>
              <a:buFont typeface="Arial"/>
              <a:buChar char="•"/>
            </a:pPr>
            <a:r>
              <a:rPr lang="en-US" sz="2199">
                <a:solidFill>
                  <a:srgbClr val="000000"/>
                </a:solidFill>
                <a:latin typeface="Public Sans"/>
                <a:ea typeface="Public Sans"/>
                <a:cs typeface="Public Sans"/>
                <a:sym typeface="Public Sans"/>
              </a:rPr>
              <a:t>Rent Index - The median monthly rent for properties in USD</a:t>
            </a:r>
          </a:p>
        </p:txBody>
      </p:sp>
      <p:sp>
        <p:nvSpPr>
          <p:cNvPr name="TextBox 12" id="12"/>
          <p:cNvSpPr txBox="true"/>
          <p:nvPr/>
        </p:nvSpPr>
        <p:spPr>
          <a:xfrm rot="0">
            <a:off x="1028700" y="4890107"/>
            <a:ext cx="7314268" cy="473656"/>
          </a:xfrm>
          <a:prstGeom prst="rect">
            <a:avLst/>
          </a:prstGeom>
        </p:spPr>
        <p:txBody>
          <a:bodyPr anchor="t" rtlCol="false" tIns="0" lIns="0" bIns="0" rIns="0">
            <a:spAutoFit/>
          </a:bodyPr>
          <a:lstStyle/>
          <a:p>
            <a:pPr algn="just">
              <a:lnSpc>
                <a:spcPts val="3817"/>
              </a:lnSpc>
            </a:pPr>
            <a:r>
              <a:rPr lang="en-US" sz="2727" b="true">
                <a:solidFill>
                  <a:srgbClr val="004CCF"/>
                </a:solidFill>
                <a:latin typeface="Public Sans Bold"/>
                <a:ea typeface="Public Sans Bold"/>
                <a:cs typeface="Public Sans Bold"/>
                <a:sym typeface="Public Sans Bold"/>
              </a:rPr>
              <a:t>Index</a:t>
            </a:r>
          </a:p>
        </p:txBody>
      </p:sp>
      <p:sp>
        <p:nvSpPr>
          <p:cNvPr name="TextBox 13" id="13"/>
          <p:cNvSpPr txBox="true"/>
          <p:nvPr/>
        </p:nvSpPr>
        <p:spPr>
          <a:xfrm rot="0">
            <a:off x="1028700" y="7082172"/>
            <a:ext cx="9277743" cy="782320"/>
          </a:xfrm>
          <a:prstGeom prst="rect">
            <a:avLst/>
          </a:prstGeom>
        </p:spPr>
        <p:txBody>
          <a:bodyPr anchor="t" rtlCol="false" tIns="0" lIns="0" bIns="0" rIns="0">
            <a:spAutoFit/>
          </a:bodyPr>
          <a:lstStyle/>
          <a:p>
            <a:pPr algn="just" marL="474978" indent="-237489" lvl="1">
              <a:lnSpc>
                <a:spcPts val="3079"/>
              </a:lnSpc>
              <a:buFont typeface="Arial"/>
              <a:buChar char="•"/>
            </a:pPr>
            <a:r>
              <a:rPr lang="en-US" sz="2199">
                <a:solidFill>
                  <a:srgbClr val="000000"/>
                </a:solidFill>
                <a:latin typeface="Public Sans"/>
                <a:ea typeface="Public Sans"/>
                <a:cs typeface="Public Sans"/>
                <a:sym typeface="Public Sans"/>
              </a:rPr>
              <a:t>Affordability Ratio - Ratio comparing median house price to median income</a:t>
            </a:r>
          </a:p>
        </p:txBody>
      </p:sp>
      <p:sp>
        <p:nvSpPr>
          <p:cNvPr name="TextBox 14" id="14"/>
          <p:cNvSpPr txBox="true"/>
          <p:nvPr/>
        </p:nvSpPr>
        <p:spPr>
          <a:xfrm rot="0">
            <a:off x="1028700" y="6539633"/>
            <a:ext cx="7314268" cy="473656"/>
          </a:xfrm>
          <a:prstGeom prst="rect">
            <a:avLst/>
          </a:prstGeom>
        </p:spPr>
        <p:txBody>
          <a:bodyPr anchor="t" rtlCol="false" tIns="0" lIns="0" bIns="0" rIns="0">
            <a:spAutoFit/>
          </a:bodyPr>
          <a:lstStyle/>
          <a:p>
            <a:pPr algn="just">
              <a:lnSpc>
                <a:spcPts val="3817"/>
              </a:lnSpc>
            </a:pPr>
            <a:r>
              <a:rPr lang="en-US" sz="2727" b="true">
                <a:solidFill>
                  <a:srgbClr val="004CCF"/>
                </a:solidFill>
                <a:latin typeface="Public Sans Bold"/>
                <a:ea typeface="Public Sans Bold"/>
                <a:cs typeface="Public Sans Bold"/>
                <a:sym typeface="Public Sans Bold"/>
              </a:rPr>
              <a:t>Ratio</a:t>
            </a:r>
          </a:p>
        </p:txBody>
      </p:sp>
      <p:sp>
        <p:nvSpPr>
          <p:cNvPr name="TextBox 15" id="15"/>
          <p:cNvSpPr txBox="true"/>
          <p:nvPr/>
        </p:nvSpPr>
        <p:spPr>
          <a:xfrm rot="0">
            <a:off x="1028700" y="8498167"/>
            <a:ext cx="9277743" cy="1172845"/>
          </a:xfrm>
          <a:prstGeom prst="rect">
            <a:avLst/>
          </a:prstGeom>
        </p:spPr>
        <p:txBody>
          <a:bodyPr anchor="t" rtlCol="false" tIns="0" lIns="0" bIns="0" rIns="0">
            <a:spAutoFit/>
          </a:bodyPr>
          <a:lstStyle/>
          <a:p>
            <a:pPr algn="just" marL="474978" indent="-237489" lvl="1">
              <a:lnSpc>
                <a:spcPts val="3079"/>
              </a:lnSpc>
              <a:buFont typeface="Arial"/>
              <a:buChar char="•"/>
            </a:pPr>
            <a:r>
              <a:rPr lang="en-US" sz="2199">
                <a:solidFill>
                  <a:srgbClr val="000000"/>
                </a:solidFill>
                <a:latin typeface="Public Sans"/>
                <a:ea typeface="Public Sans"/>
                <a:cs typeface="Public Sans"/>
                <a:sym typeface="Public Sans"/>
              </a:rPr>
              <a:t>Mortgage Rate and Inflation rate both give annual rates in </a:t>
            </a:r>
            <a:r>
              <a:rPr lang="en-US" b="true" sz="2199">
                <a:solidFill>
                  <a:srgbClr val="000000"/>
                </a:solidFill>
                <a:latin typeface="Public Sans Bold"/>
                <a:ea typeface="Public Sans Bold"/>
                <a:cs typeface="Public Sans Bold"/>
                <a:sym typeface="Public Sans Bold"/>
              </a:rPr>
              <a:t>percentage</a:t>
            </a:r>
            <a:r>
              <a:rPr lang="en-US" sz="2199">
                <a:solidFill>
                  <a:srgbClr val="000000"/>
                </a:solidFill>
                <a:latin typeface="Public Sans"/>
                <a:ea typeface="Public Sans"/>
                <a:cs typeface="Public Sans"/>
                <a:sym typeface="Public Sans"/>
              </a:rPr>
              <a:t> </a:t>
            </a:r>
          </a:p>
          <a:p>
            <a:pPr algn="just" marL="474978" indent="-237489" lvl="1">
              <a:lnSpc>
                <a:spcPts val="3079"/>
              </a:lnSpc>
              <a:buFont typeface="Arial"/>
              <a:buChar char="•"/>
            </a:pPr>
            <a:r>
              <a:rPr lang="en-US" sz="2199">
                <a:solidFill>
                  <a:srgbClr val="000000"/>
                </a:solidFill>
                <a:latin typeface="Public Sans"/>
                <a:ea typeface="Public Sans"/>
                <a:cs typeface="Public Sans"/>
                <a:sym typeface="Public Sans"/>
              </a:rPr>
              <a:t>Same with Urbanization, GDP, and Population</a:t>
            </a:r>
          </a:p>
        </p:txBody>
      </p:sp>
      <p:sp>
        <p:nvSpPr>
          <p:cNvPr name="TextBox 16" id="16"/>
          <p:cNvSpPr txBox="true"/>
          <p:nvPr/>
        </p:nvSpPr>
        <p:spPr>
          <a:xfrm rot="0">
            <a:off x="1028700" y="7940692"/>
            <a:ext cx="7314268" cy="473656"/>
          </a:xfrm>
          <a:prstGeom prst="rect">
            <a:avLst/>
          </a:prstGeom>
        </p:spPr>
        <p:txBody>
          <a:bodyPr anchor="t" rtlCol="false" tIns="0" lIns="0" bIns="0" rIns="0">
            <a:spAutoFit/>
          </a:bodyPr>
          <a:lstStyle/>
          <a:p>
            <a:pPr algn="just">
              <a:lnSpc>
                <a:spcPts val="3817"/>
              </a:lnSpc>
            </a:pPr>
            <a:r>
              <a:rPr lang="en-US" sz="2727" b="true">
                <a:solidFill>
                  <a:srgbClr val="004CCF"/>
                </a:solidFill>
                <a:latin typeface="Public Sans Bold"/>
                <a:ea typeface="Public Sans Bold"/>
                <a:cs typeface="Public Sans Bold"/>
                <a:sym typeface="Public Sans Bold"/>
              </a:rPr>
              <a:t>Percentage</a:t>
            </a:r>
          </a:p>
        </p:txBody>
      </p:sp>
      <p:grpSp>
        <p:nvGrpSpPr>
          <p:cNvPr name="Group 17" id="17"/>
          <p:cNvGrpSpPr/>
          <p:nvPr/>
        </p:nvGrpSpPr>
        <p:grpSpPr>
          <a:xfrm rot="0">
            <a:off x="12637812" y="4313087"/>
            <a:ext cx="5115599" cy="511559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53896" t="0" r="-53896" b="0"/>
              </a:stretch>
            </a:blipFill>
          </p:spPr>
        </p:sp>
      </p:grpSp>
      <p:sp>
        <p:nvSpPr>
          <p:cNvPr name="TextBox 19" id="19"/>
          <p:cNvSpPr txBox="true"/>
          <p:nvPr/>
        </p:nvSpPr>
        <p:spPr>
          <a:xfrm rot="0">
            <a:off x="2010437" y="4417086"/>
            <a:ext cx="7314268" cy="539696"/>
          </a:xfrm>
          <a:prstGeom prst="rect">
            <a:avLst/>
          </a:prstGeom>
        </p:spPr>
        <p:txBody>
          <a:bodyPr anchor="t" rtlCol="false" tIns="0" lIns="0" bIns="0" rIns="0">
            <a:spAutoFit/>
          </a:bodyPr>
          <a:lstStyle/>
          <a:p>
            <a:pPr algn="ctr">
              <a:lnSpc>
                <a:spcPts val="4377"/>
              </a:lnSpc>
            </a:pPr>
            <a:r>
              <a:rPr lang="en-US" sz="3127" b="true">
                <a:solidFill>
                  <a:srgbClr val="004CCF"/>
                </a:solidFill>
                <a:latin typeface="Public Sans Bold"/>
                <a:ea typeface="Public Sans Bold"/>
                <a:cs typeface="Public Sans Bold"/>
                <a:sym typeface="Public Sans Bold"/>
              </a:rPr>
              <a:t>Important Notes on the Dataset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41151">
            <a:off x="-888644" y="-1837067"/>
            <a:ext cx="20065287" cy="13961134"/>
          </a:xfrm>
          <a:custGeom>
            <a:avLst/>
            <a:gdLst/>
            <a:ahLst/>
            <a:cxnLst/>
            <a:rect r="r" b="b" t="t" l="l"/>
            <a:pathLst>
              <a:path h="13961134" w="20065287">
                <a:moveTo>
                  <a:pt x="2200657" y="0"/>
                </a:moveTo>
                <a:lnTo>
                  <a:pt x="20065288" y="3912280"/>
                </a:lnTo>
                <a:lnTo>
                  <a:pt x="17864631" y="13961134"/>
                </a:lnTo>
                <a:lnTo>
                  <a:pt x="0" y="10048854"/>
                </a:lnTo>
                <a:lnTo>
                  <a:pt x="2200657" y="0"/>
                </a:lnTo>
                <a:close/>
              </a:path>
            </a:pathLst>
          </a:custGeom>
          <a:blipFill>
            <a:blip r:embed="rId2"/>
            <a:stretch>
              <a:fillRect l="-1241" t="0" r="-8451" b="-11342"/>
            </a:stretch>
          </a:blipFill>
        </p:spPr>
      </p:sp>
      <p:grpSp>
        <p:nvGrpSpPr>
          <p:cNvPr name="Group 3" id="3"/>
          <p:cNvGrpSpPr/>
          <p:nvPr/>
        </p:nvGrpSpPr>
        <p:grpSpPr>
          <a:xfrm rot="0">
            <a:off x="10795821" y="2935011"/>
            <a:ext cx="6383965" cy="6323289"/>
            <a:chOff x="0" y="0"/>
            <a:chExt cx="2721368" cy="2695503"/>
          </a:xfrm>
        </p:grpSpPr>
        <p:sp>
          <p:nvSpPr>
            <p:cNvPr name="Freeform 4" id="4"/>
            <p:cNvSpPr/>
            <p:nvPr/>
          </p:nvSpPr>
          <p:spPr>
            <a:xfrm flipH="false" flipV="false" rot="0">
              <a:off x="0" y="0"/>
              <a:ext cx="2721368" cy="2695503"/>
            </a:xfrm>
            <a:custGeom>
              <a:avLst/>
              <a:gdLst/>
              <a:ahLst/>
              <a:cxnLst/>
              <a:rect r="r" b="b" t="t" l="l"/>
              <a:pathLst>
                <a:path h="2695503" w="2721368">
                  <a:moveTo>
                    <a:pt x="48509" y="0"/>
                  </a:moveTo>
                  <a:lnTo>
                    <a:pt x="2672860" y="0"/>
                  </a:lnTo>
                  <a:cubicBezTo>
                    <a:pt x="2699650" y="0"/>
                    <a:pt x="2721368" y="21718"/>
                    <a:pt x="2721368" y="48509"/>
                  </a:cubicBezTo>
                  <a:lnTo>
                    <a:pt x="2721368" y="2646995"/>
                  </a:lnTo>
                  <a:cubicBezTo>
                    <a:pt x="2721368" y="2673785"/>
                    <a:pt x="2699650" y="2695503"/>
                    <a:pt x="2672860" y="2695503"/>
                  </a:cubicBezTo>
                  <a:lnTo>
                    <a:pt x="48509" y="2695503"/>
                  </a:lnTo>
                  <a:cubicBezTo>
                    <a:pt x="21718" y="2695503"/>
                    <a:pt x="0" y="2673785"/>
                    <a:pt x="0" y="2646995"/>
                  </a:cubicBezTo>
                  <a:lnTo>
                    <a:pt x="0" y="48509"/>
                  </a:lnTo>
                  <a:cubicBezTo>
                    <a:pt x="0" y="21718"/>
                    <a:pt x="21718" y="0"/>
                    <a:pt x="48509" y="0"/>
                  </a:cubicBezTo>
                  <a:close/>
                </a:path>
              </a:pathLst>
            </a:custGeom>
            <a:solidFill>
              <a:srgbClr val="F2F2F2"/>
            </a:solidFill>
          </p:spPr>
        </p:sp>
        <p:sp>
          <p:nvSpPr>
            <p:cNvPr name="TextBox 5" id="5"/>
            <p:cNvSpPr txBox="true"/>
            <p:nvPr/>
          </p:nvSpPr>
          <p:spPr>
            <a:xfrm>
              <a:off x="0" y="-47625"/>
              <a:ext cx="2721368" cy="2743128"/>
            </a:xfrm>
            <a:prstGeom prst="rect">
              <a:avLst/>
            </a:prstGeom>
          </p:spPr>
          <p:txBody>
            <a:bodyPr anchor="ctr" rtlCol="false" tIns="31386" lIns="31386" bIns="31386" rIns="31386"/>
            <a:lstStyle/>
            <a:p>
              <a:pPr algn="ctr">
                <a:lnSpc>
                  <a:spcPts val="3257"/>
                </a:lnSpc>
              </a:pPr>
            </a:p>
          </p:txBody>
        </p:sp>
      </p:grpSp>
      <p:sp>
        <p:nvSpPr>
          <p:cNvPr name="Freeform 6" id="6"/>
          <p:cNvSpPr/>
          <p:nvPr/>
        </p:nvSpPr>
        <p:spPr>
          <a:xfrm flipH="false" flipV="false" rot="2871075">
            <a:off x="15350015" y="-2421040"/>
            <a:ext cx="5078392" cy="5072044"/>
          </a:xfrm>
          <a:custGeom>
            <a:avLst/>
            <a:gdLst/>
            <a:ahLst/>
            <a:cxnLst/>
            <a:rect r="r" b="b" t="t" l="l"/>
            <a:pathLst>
              <a:path h="5072044" w="5078392">
                <a:moveTo>
                  <a:pt x="0" y="0"/>
                </a:moveTo>
                <a:lnTo>
                  <a:pt x="5078392" y="0"/>
                </a:lnTo>
                <a:lnTo>
                  <a:pt x="5078392" y="5072044"/>
                </a:lnTo>
                <a:lnTo>
                  <a:pt x="0" y="50720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7" id="7"/>
          <p:cNvSpPr/>
          <p:nvPr/>
        </p:nvSpPr>
        <p:spPr>
          <a:xfrm flipH="false" flipV="false" rot="0">
            <a:off x="568125" y="4794119"/>
            <a:ext cx="9877057" cy="2605074"/>
          </a:xfrm>
          <a:custGeom>
            <a:avLst/>
            <a:gdLst/>
            <a:ahLst/>
            <a:cxnLst/>
            <a:rect r="r" b="b" t="t" l="l"/>
            <a:pathLst>
              <a:path h="2605074" w="9877057">
                <a:moveTo>
                  <a:pt x="0" y="0"/>
                </a:moveTo>
                <a:lnTo>
                  <a:pt x="9877056" y="0"/>
                </a:lnTo>
                <a:lnTo>
                  <a:pt x="9877056" y="2605074"/>
                </a:lnTo>
                <a:lnTo>
                  <a:pt x="0" y="2605074"/>
                </a:lnTo>
                <a:lnTo>
                  <a:pt x="0" y="0"/>
                </a:lnTo>
                <a:close/>
              </a:path>
            </a:pathLst>
          </a:custGeom>
          <a:blipFill>
            <a:blip r:embed="rId5"/>
            <a:stretch>
              <a:fillRect l="0" t="0" r="0" b="0"/>
            </a:stretch>
          </a:blipFill>
        </p:spPr>
      </p:sp>
      <p:sp>
        <p:nvSpPr>
          <p:cNvPr name="Freeform 8" id="8"/>
          <p:cNvSpPr/>
          <p:nvPr/>
        </p:nvSpPr>
        <p:spPr>
          <a:xfrm flipH="false" flipV="false" rot="0">
            <a:off x="568125" y="7913543"/>
            <a:ext cx="9356732" cy="1286551"/>
          </a:xfrm>
          <a:custGeom>
            <a:avLst/>
            <a:gdLst/>
            <a:ahLst/>
            <a:cxnLst/>
            <a:rect r="r" b="b" t="t" l="l"/>
            <a:pathLst>
              <a:path h="1286551" w="9356732">
                <a:moveTo>
                  <a:pt x="0" y="0"/>
                </a:moveTo>
                <a:lnTo>
                  <a:pt x="9356732" y="0"/>
                </a:lnTo>
                <a:lnTo>
                  <a:pt x="9356732" y="1286550"/>
                </a:lnTo>
                <a:lnTo>
                  <a:pt x="0" y="1286550"/>
                </a:lnTo>
                <a:lnTo>
                  <a:pt x="0" y="0"/>
                </a:lnTo>
                <a:close/>
              </a:path>
            </a:pathLst>
          </a:custGeom>
          <a:blipFill>
            <a:blip r:embed="rId6"/>
            <a:stretch>
              <a:fillRect l="0" t="0" r="0" b="0"/>
            </a:stretch>
          </a:blipFill>
        </p:spPr>
      </p:sp>
      <p:sp>
        <p:nvSpPr>
          <p:cNvPr name="TextBox 9" id="9"/>
          <p:cNvSpPr txBox="true"/>
          <p:nvPr/>
        </p:nvSpPr>
        <p:spPr>
          <a:xfrm rot="0">
            <a:off x="1088449" y="1123950"/>
            <a:ext cx="7466684" cy="1423291"/>
          </a:xfrm>
          <a:prstGeom prst="rect">
            <a:avLst/>
          </a:prstGeom>
        </p:spPr>
        <p:txBody>
          <a:bodyPr anchor="t" rtlCol="false" tIns="0" lIns="0" bIns="0" rIns="0">
            <a:spAutoFit/>
          </a:bodyPr>
          <a:lstStyle/>
          <a:p>
            <a:pPr algn="l" marL="0" indent="0" lvl="0">
              <a:lnSpc>
                <a:spcPts val="5508"/>
              </a:lnSpc>
              <a:spcBef>
                <a:spcPct val="0"/>
              </a:spcBef>
            </a:pPr>
            <a:r>
              <a:rPr lang="en-US" b="true" sz="5196">
                <a:solidFill>
                  <a:srgbClr val="004CCF"/>
                </a:solidFill>
                <a:latin typeface="Aileron Ultra-Bold"/>
                <a:ea typeface="Aileron Ultra-Bold"/>
                <a:cs typeface="Aileron Ultra-Bold"/>
                <a:sym typeface="Aileron Ultra-Bold"/>
              </a:rPr>
              <a:t>Data Wrangling and Cleaning</a:t>
            </a:r>
          </a:p>
        </p:txBody>
      </p:sp>
      <p:sp>
        <p:nvSpPr>
          <p:cNvPr name="TextBox 10" id="10"/>
          <p:cNvSpPr txBox="true"/>
          <p:nvPr/>
        </p:nvSpPr>
        <p:spPr>
          <a:xfrm rot="0">
            <a:off x="1088449" y="2877861"/>
            <a:ext cx="8836407" cy="1406525"/>
          </a:xfrm>
          <a:prstGeom prst="rect">
            <a:avLst/>
          </a:prstGeom>
        </p:spPr>
        <p:txBody>
          <a:bodyPr anchor="t" rtlCol="false" tIns="0" lIns="0" bIns="0" rIns="0">
            <a:spAutoFit/>
          </a:bodyPr>
          <a:lstStyle/>
          <a:p>
            <a:pPr algn="just">
              <a:lnSpc>
                <a:spcPts val="2799"/>
              </a:lnSpc>
            </a:pPr>
            <a:r>
              <a:rPr lang="en-US" sz="1999">
                <a:solidFill>
                  <a:srgbClr val="000000"/>
                </a:solidFill>
                <a:latin typeface="Public Sans"/>
                <a:ea typeface="Public Sans"/>
                <a:cs typeface="Public Sans"/>
                <a:sym typeface="Public Sans"/>
              </a:rPr>
              <a:t>Fortunately, my dataset didn’t contain any null values or duplicates, which made the cleaning process much simpler. However, to begin the analysis, I still applied feature engineering in a few different ways to prepare the data for analysis.</a:t>
            </a:r>
          </a:p>
        </p:txBody>
      </p:sp>
      <p:sp>
        <p:nvSpPr>
          <p:cNvPr name="TextBox 11" id="11"/>
          <p:cNvSpPr txBox="true"/>
          <p:nvPr/>
        </p:nvSpPr>
        <p:spPr>
          <a:xfrm rot="0">
            <a:off x="11019021" y="6049031"/>
            <a:ext cx="5952908" cy="1369002"/>
          </a:xfrm>
          <a:prstGeom prst="rect">
            <a:avLst/>
          </a:prstGeom>
        </p:spPr>
        <p:txBody>
          <a:bodyPr anchor="t" rtlCol="false" tIns="0" lIns="0" bIns="0" rIns="0">
            <a:spAutoFit/>
          </a:bodyPr>
          <a:lstStyle/>
          <a:p>
            <a:pPr algn="just" marL="426893" indent="-213446" lvl="1">
              <a:lnSpc>
                <a:spcPts val="2768"/>
              </a:lnSpc>
              <a:buFont typeface="Arial"/>
              <a:buChar char="•"/>
            </a:pPr>
            <a:r>
              <a:rPr lang="en-US" sz="1977">
                <a:solidFill>
                  <a:srgbClr val="000000"/>
                </a:solidFill>
                <a:latin typeface="Public Sans"/>
                <a:ea typeface="Public Sans"/>
                <a:cs typeface="Public Sans"/>
                <a:sym typeface="Public Sans"/>
              </a:rPr>
              <a:t>Removal of Construction Index</a:t>
            </a:r>
          </a:p>
          <a:p>
            <a:pPr algn="just" marL="426893" indent="-213446" lvl="1">
              <a:lnSpc>
                <a:spcPts val="2768"/>
              </a:lnSpc>
              <a:buFont typeface="Arial"/>
              <a:buChar char="•"/>
            </a:pPr>
            <a:r>
              <a:rPr lang="en-US" sz="1977">
                <a:solidFill>
                  <a:srgbClr val="000000"/>
                </a:solidFill>
                <a:latin typeface="Public Sans"/>
                <a:ea typeface="Public Sans"/>
                <a:cs typeface="Public Sans"/>
                <a:sym typeface="Public Sans"/>
              </a:rPr>
              <a:t>Addition of “Year_Cat” Column (category)</a:t>
            </a:r>
          </a:p>
          <a:p>
            <a:pPr algn="just" marL="426893" indent="-213446" lvl="1">
              <a:lnSpc>
                <a:spcPts val="2768"/>
              </a:lnSpc>
              <a:buFont typeface="Arial"/>
              <a:buChar char="•"/>
            </a:pPr>
            <a:r>
              <a:rPr lang="en-US" sz="1977" strike="noStrike" u="none">
                <a:solidFill>
                  <a:srgbClr val="000000"/>
                </a:solidFill>
                <a:latin typeface="Public Sans"/>
                <a:ea typeface="Public Sans"/>
                <a:cs typeface="Public Sans"/>
                <a:sym typeface="Public Sans"/>
              </a:rPr>
              <a:t>Code Column (for geomap)</a:t>
            </a:r>
          </a:p>
          <a:p>
            <a:pPr algn="just" marL="426893" indent="-213446" lvl="1">
              <a:lnSpc>
                <a:spcPts val="2768"/>
              </a:lnSpc>
              <a:buFont typeface="Arial"/>
              <a:buChar char="•"/>
            </a:pPr>
            <a:r>
              <a:rPr lang="en-US" sz="1977" strike="noStrike" u="none">
                <a:solidFill>
                  <a:srgbClr val="000000"/>
                </a:solidFill>
                <a:latin typeface="Public Sans"/>
                <a:ea typeface="Public Sans"/>
                <a:cs typeface="Public Sans"/>
                <a:sym typeface="Public Sans"/>
              </a:rPr>
              <a:t>Region Column (for easier comparison)</a:t>
            </a:r>
          </a:p>
        </p:txBody>
      </p:sp>
      <p:sp>
        <p:nvSpPr>
          <p:cNvPr name="TextBox 12" id="12"/>
          <p:cNvSpPr txBox="true"/>
          <p:nvPr/>
        </p:nvSpPr>
        <p:spPr>
          <a:xfrm rot="0">
            <a:off x="11011350" y="5536978"/>
            <a:ext cx="5952908" cy="457982"/>
          </a:xfrm>
          <a:prstGeom prst="rect">
            <a:avLst/>
          </a:prstGeom>
        </p:spPr>
        <p:txBody>
          <a:bodyPr anchor="t" rtlCol="false" tIns="0" lIns="0" bIns="0" rIns="0">
            <a:spAutoFit/>
          </a:bodyPr>
          <a:lstStyle/>
          <a:p>
            <a:pPr algn="just">
              <a:lnSpc>
                <a:spcPts val="3631"/>
              </a:lnSpc>
            </a:pPr>
            <a:r>
              <a:rPr lang="en-US" sz="2594" b="true">
                <a:solidFill>
                  <a:srgbClr val="004CCF"/>
                </a:solidFill>
                <a:latin typeface="Public Sans Bold"/>
                <a:ea typeface="Public Sans Bold"/>
                <a:cs typeface="Public Sans Bold"/>
                <a:sym typeface="Public Sans Bold"/>
              </a:rPr>
              <a:t>Creation and Removal of Columns</a:t>
            </a:r>
          </a:p>
        </p:txBody>
      </p:sp>
      <p:sp>
        <p:nvSpPr>
          <p:cNvPr name="TextBox 13" id="13"/>
          <p:cNvSpPr txBox="true"/>
          <p:nvPr/>
        </p:nvSpPr>
        <p:spPr>
          <a:xfrm rot="0">
            <a:off x="11019021" y="8241536"/>
            <a:ext cx="5952908" cy="1369002"/>
          </a:xfrm>
          <a:prstGeom prst="rect">
            <a:avLst/>
          </a:prstGeom>
        </p:spPr>
        <p:txBody>
          <a:bodyPr anchor="t" rtlCol="false" tIns="0" lIns="0" bIns="0" rIns="0">
            <a:spAutoFit/>
          </a:bodyPr>
          <a:lstStyle/>
          <a:p>
            <a:pPr algn="just" marL="426893" indent="-213446" lvl="1">
              <a:lnSpc>
                <a:spcPts val="2768"/>
              </a:lnSpc>
              <a:buFont typeface="Arial"/>
              <a:buChar char="•"/>
            </a:pPr>
            <a:r>
              <a:rPr lang="en-US" sz="1977">
                <a:solidFill>
                  <a:srgbClr val="000000"/>
                </a:solidFill>
                <a:latin typeface="Public Sans"/>
                <a:ea typeface="Public Sans"/>
                <a:cs typeface="Public Sans"/>
                <a:sym typeface="Public Sans"/>
              </a:rPr>
              <a:t>i.e “House Price (or Affordability) and Country”</a:t>
            </a:r>
          </a:p>
          <a:p>
            <a:pPr algn="just" marL="853785" indent="-284595" lvl="2">
              <a:lnSpc>
                <a:spcPts val="2768"/>
              </a:lnSpc>
              <a:buFont typeface="Arial"/>
              <a:buChar char="⚬"/>
            </a:pPr>
            <a:r>
              <a:rPr lang="en-US" sz="1977" strike="noStrike" u="none">
                <a:solidFill>
                  <a:srgbClr val="000000"/>
                </a:solidFill>
                <a:latin typeface="Public Sans"/>
                <a:ea typeface="Public Sans"/>
                <a:cs typeface="Public Sans"/>
                <a:sym typeface="Public Sans"/>
              </a:rPr>
              <a:t>retrieval of mean</a:t>
            </a:r>
          </a:p>
          <a:p>
            <a:pPr algn="just" marL="426893" indent="-213446" lvl="1">
              <a:lnSpc>
                <a:spcPts val="2768"/>
              </a:lnSpc>
              <a:buFont typeface="Arial"/>
              <a:buChar char="•"/>
            </a:pPr>
            <a:r>
              <a:rPr lang="en-US" sz="1977" strike="noStrike" u="none">
                <a:solidFill>
                  <a:srgbClr val="000000"/>
                </a:solidFill>
                <a:latin typeface="Public Sans"/>
                <a:ea typeface="Public Sans"/>
                <a:cs typeface="Public Sans"/>
                <a:sym typeface="Public Sans"/>
              </a:rPr>
              <a:t>“Region Summary”</a:t>
            </a:r>
          </a:p>
          <a:p>
            <a:pPr algn="just" marL="853785" indent="-284595" lvl="2">
              <a:lnSpc>
                <a:spcPts val="2768"/>
              </a:lnSpc>
              <a:buFont typeface="Arial"/>
              <a:buChar char="⚬"/>
            </a:pPr>
            <a:r>
              <a:rPr lang="en-US" sz="1977" strike="noStrike" u="none">
                <a:solidFill>
                  <a:srgbClr val="000000"/>
                </a:solidFill>
                <a:latin typeface="Public Sans"/>
                <a:ea typeface="Public Sans"/>
                <a:cs typeface="Public Sans"/>
                <a:sym typeface="Public Sans"/>
              </a:rPr>
              <a:t>Analyze any potential anomalies</a:t>
            </a:r>
          </a:p>
        </p:txBody>
      </p:sp>
      <p:sp>
        <p:nvSpPr>
          <p:cNvPr name="TextBox 14" id="14"/>
          <p:cNvSpPr txBox="true"/>
          <p:nvPr/>
        </p:nvSpPr>
        <p:spPr>
          <a:xfrm rot="0">
            <a:off x="11011350" y="7696053"/>
            <a:ext cx="5952908" cy="457982"/>
          </a:xfrm>
          <a:prstGeom prst="rect">
            <a:avLst/>
          </a:prstGeom>
        </p:spPr>
        <p:txBody>
          <a:bodyPr anchor="t" rtlCol="false" tIns="0" lIns="0" bIns="0" rIns="0">
            <a:spAutoFit/>
          </a:bodyPr>
          <a:lstStyle/>
          <a:p>
            <a:pPr algn="just">
              <a:lnSpc>
                <a:spcPts val="3631"/>
              </a:lnSpc>
            </a:pPr>
            <a:r>
              <a:rPr lang="en-US" sz="2594" b="true">
                <a:solidFill>
                  <a:srgbClr val="004CCF"/>
                </a:solidFill>
                <a:latin typeface="Public Sans Bold"/>
                <a:ea typeface="Public Sans Bold"/>
                <a:cs typeface="Public Sans Bold"/>
                <a:sym typeface="Public Sans Bold"/>
              </a:rPr>
              <a:t>Groupby Function</a:t>
            </a:r>
          </a:p>
        </p:txBody>
      </p:sp>
      <p:sp>
        <p:nvSpPr>
          <p:cNvPr name="TextBox 15" id="15"/>
          <p:cNvSpPr txBox="true"/>
          <p:nvPr/>
        </p:nvSpPr>
        <p:spPr>
          <a:xfrm rot="0">
            <a:off x="11019021" y="3538261"/>
            <a:ext cx="6469247" cy="457982"/>
          </a:xfrm>
          <a:prstGeom prst="rect">
            <a:avLst/>
          </a:prstGeom>
        </p:spPr>
        <p:txBody>
          <a:bodyPr anchor="t" rtlCol="false" tIns="0" lIns="0" bIns="0" rIns="0">
            <a:spAutoFit/>
          </a:bodyPr>
          <a:lstStyle/>
          <a:p>
            <a:pPr algn="just">
              <a:lnSpc>
                <a:spcPts val="3631"/>
              </a:lnSpc>
            </a:pPr>
            <a:r>
              <a:rPr lang="en-US" sz="2594" b="true">
                <a:solidFill>
                  <a:srgbClr val="004CCF"/>
                </a:solidFill>
                <a:latin typeface="Public Sans Bold"/>
                <a:ea typeface="Public Sans Bold"/>
                <a:cs typeface="Public Sans Bold"/>
                <a:sym typeface="Public Sans Bold"/>
              </a:rPr>
              <a:t>Isolation &amp; Validity of Numeric Columns</a:t>
            </a:r>
          </a:p>
        </p:txBody>
      </p:sp>
      <p:sp>
        <p:nvSpPr>
          <p:cNvPr name="TextBox 16" id="16"/>
          <p:cNvSpPr txBox="true"/>
          <p:nvPr/>
        </p:nvSpPr>
        <p:spPr>
          <a:xfrm rot="0">
            <a:off x="11019021" y="4117398"/>
            <a:ext cx="5952908" cy="1369002"/>
          </a:xfrm>
          <a:prstGeom prst="rect">
            <a:avLst/>
          </a:prstGeom>
        </p:spPr>
        <p:txBody>
          <a:bodyPr anchor="t" rtlCol="false" tIns="0" lIns="0" bIns="0" rIns="0">
            <a:spAutoFit/>
          </a:bodyPr>
          <a:lstStyle/>
          <a:p>
            <a:pPr algn="just" marL="426893" indent="-213446" lvl="1">
              <a:lnSpc>
                <a:spcPts val="2768"/>
              </a:lnSpc>
              <a:buFont typeface="Arial"/>
              <a:buChar char="•"/>
            </a:pPr>
            <a:r>
              <a:rPr lang="en-US" sz="1977">
                <a:solidFill>
                  <a:srgbClr val="000000"/>
                </a:solidFill>
                <a:latin typeface="Public Sans"/>
                <a:ea typeface="Public Sans"/>
                <a:cs typeface="Public Sans"/>
                <a:sym typeface="Public Sans"/>
              </a:rPr>
              <a:t>Major cleaning protocol to ensure numeric columns were valid (i.e no non negatives were not plausible)</a:t>
            </a:r>
          </a:p>
          <a:p>
            <a:pPr algn="just" marL="426893" indent="-213446" lvl="1">
              <a:lnSpc>
                <a:spcPts val="2768"/>
              </a:lnSpc>
              <a:buFont typeface="Arial"/>
              <a:buChar char="•"/>
            </a:pPr>
            <a:r>
              <a:rPr lang="en-US" sz="1977" strike="noStrike" u="none">
                <a:solidFill>
                  <a:srgbClr val="000000"/>
                </a:solidFill>
                <a:latin typeface="Public Sans"/>
                <a:ea typeface="Public Sans"/>
                <a:cs typeface="Public Sans"/>
                <a:sym typeface="Public Sans"/>
              </a:rPr>
              <a:t>Also isolated years 2020 and 2023</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A93F6"/>
        </a:solidFill>
      </p:bgPr>
    </p:bg>
    <p:spTree>
      <p:nvGrpSpPr>
        <p:cNvPr id="1" name=""/>
        <p:cNvGrpSpPr/>
        <p:nvPr/>
      </p:nvGrpSpPr>
      <p:grpSpPr>
        <a:xfrm>
          <a:off x="0" y="0"/>
          <a:ext cx="0" cy="0"/>
          <a:chOff x="0" y="0"/>
          <a:chExt cx="0" cy="0"/>
        </a:xfrm>
      </p:grpSpPr>
      <p:sp>
        <p:nvSpPr>
          <p:cNvPr name="Freeform 2" id="2">
            <a:hlinkClick r:id="rId3" tooltip="http://localhost:8889/notebooks/Desktop/Projects_DataScience/Raven_Shaw_Final.ipynb"/>
          </p:cNvPr>
          <p:cNvSpPr/>
          <p:nvPr/>
        </p:nvSpPr>
        <p:spPr>
          <a:xfrm flipH="false" flipV="false" rot="0">
            <a:off x="3493371" y="6156319"/>
            <a:ext cx="11301259" cy="3687036"/>
          </a:xfrm>
          <a:custGeom>
            <a:avLst/>
            <a:gdLst/>
            <a:ahLst/>
            <a:cxnLst/>
            <a:rect r="r" b="b" t="t" l="l"/>
            <a:pathLst>
              <a:path h="3687036" w="11301259">
                <a:moveTo>
                  <a:pt x="0" y="0"/>
                </a:moveTo>
                <a:lnTo>
                  <a:pt x="11301258" y="0"/>
                </a:lnTo>
                <a:lnTo>
                  <a:pt x="11301258" y="3687036"/>
                </a:lnTo>
                <a:lnTo>
                  <a:pt x="0" y="3687036"/>
                </a:lnTo>
                <a:lnTo>
                  <a:pt x="0" y="0"/>
                </a:lnTo>
                <a:close/>
              </a:path>
            </a:pathLst>
          </a:custGeom>
          <a:blipFill>
            <a:blip r:embed="rId2"/>
            <a:stretch>
              <a:fillRect l="0" t="0" r="0" b="0"/>
            </a:stretch>
          </a:blipFill>
        </p:spPr>
      </p:sp>
      <p:sp>
        <p:nvSpPr>
          <p:cNvPr name="Freeform 3" id="3">
            <a:hlinkClick r:id="rId5" tooltip="http://localhost:8889/notebooks/Desktop/Projects_DataScience/Raven_Shaw_Final.ipynb"/>
          </p:cNvPr>
          <p:cNvSpPr/>
          <p:nvPr/>
        </p:nvSpPr>
        <p:spPr>
          <a:xfrm flipH="false" flipV="false" rot="0">
            <a:off x="3493371" y="281383"/>
            <a:ext cx="11301259" cy="3687036"/>
          </a:xfrm>
          <a:custGeom>
            <a:avLst/>
            <a:gdLst/>
            <a:ahLst/>
            <a:cxnLst/>
            <a:rect r="r" b="b" t="t" l="l"/>
            <a:pathLst>
              <a:path h="3687036" w="11301259">
                <a:moveTo>
                  <a:pt x="0" y="0"/>
                </a:moveTo>
                <a:lnTo>
                  <a:pt x="11301258" y="0"/>
                </a:lnTo>
                <a:lnTo>
                  <a:pt x="11301258" y="3687036"/>
                </a:lnTo>
                <a:lnTo>
                  <a:pt x="0" y="3687036"/>
                </a:lnTo>
                <a:lnTo>
                  <a:pt x="0" y="0"/>
                </a:lnTo>
                <a:close/>
              </a:path>
            </a:pathLst>
          </a:custGeom>
          <a:blipFill>
            <a:blip r:embed="rId4"/>
            <a:stretch>
              <a:fillRect l="0" t="0" r="0" b="0"/>
            </a:stretch>
          </a:blipFill>
        </p:spPr>
      </p:sp>
      <p:grpSp>
        <p:nvGrpSpPr>
          <p:cNvPr name="Group 4" id="4"/>
          <p:cNvGrpSpPr/>
          <p:nvPr/>
        </p:nvGrpSpPr>
        <p:grpSpPr>
          <a:xfrm rot="0">
            <a:off x="4808456" y="4127292"/>
            <a:ext cx="8532074" cy="1853290"/>
            <a:chOff x="0" y="0"/>
            <a:chExt cx="2103472" cy="456905"/>
          </a:xfrm>
        </p:grpSpPr>
        <p:sp>
          <p:nvSpPr>
            <p:cNvPr name="Freeform 5" id="5"/>
            <p:cNvSpPr/>
            <p:nvPr/>
          </p:nvSpPr>
          <p:spPr>
            <a:xfrm flipH="false" flipV="false" rot="0">
              <a:off x="0" y="0"/>
              <a:ext cx="2103472" cy="456905"/>
            </a:xfrm>
            <a:custGeom>
              <a:avLst/>
              <a:gdLst/>
              <a:ahLst/>
              <a:cxnLst/>
              <a:rect r="r" b="b" t="t" l="l"/>
              <a:pathLst>
                <a:path h="456905" w="2103472">
                  <a:moveTo>
                    <a:pt x="90739" y="0"/>
                  </a:moveTo>
                  <a:lnTo>
                    <a:pt x="2012733" y="0"/>
                  </a:lnTo>
                  <a:cubicBezTo>
                    <a:pt x="2036799" y="0"/>
                    <a:pt x="2059879" y="9560"/>
                    <a:pt x="2076895" y="26577"/>
                  </a:cubicBezTo>
                  <a:cubicBezTo>
                    <a:pt x="2093912" y="43594"/>
                    <a:pt x="2103472" y="66674"/>
                    <a:pt x="2103472" y="90739"/>
                  </a:cubicBezTo>
                  <a:lnTo>
                    <a:pt x="2103472" y="366166"/>
                  </a:lnTo>
                  <a:cubicBezTo>
                    <a:pt x="2103472" y="390231"/>
                    <a:pt x="2093912" y="413311"/>
                    <a:pt x="2076895" y="430328"/>
                  </a:cubicBezTo>
                  <a:cubicBezTo>
                    <a:pt x="2059879" y="447345"/>
                    <a:pt x="2036799" y="456905"/>
                    <a:pt x="2012733" y="456905"/>
                  </a:cubicBezTo>
                  <a:lnTo>
                    <a:pt x="90739" y="456905"/>
                  </a:lnTo>
                  <a:cubicBezTo>
                    <a:pt x="66674" y="456905"/>
                    <a:pt x="43594" y="447345"/>
                    <a:pt x="26577" y="430328"/>
                  </a:cubicBezTo>
                  <a:cubicBezTo>
                    <a:pt x="9560" y="413311"/>
                    <a:pt x="0" y="390231"/>
                    <a:pt x="0" y="366166"/>
                  </a:cubicBezTo>
                  <a:lnTo>
                    <a:pt x="0" y="90739"/>
                  </a:lnTo>
                  <a:cubicBezTo>
                    <a:pt x="0" y="66674"/>
                    <a:pt x="9560" y="43594"/>
                    <a:pt x="26577" y="26577"/>
                  </a:cubicBezTo>
                  <a:cubicBezTo>
                    <a:pt x="43594" y="9560"/>
                    <a:pt x="66674" y="0"/>
                    <a:pt x="90739" y="0"/>
                  </a:cubicBezTo>
                  <a:close/>
                </a:path>
              </a:pathLst>
            </a:custGeom>
            <a:solidFill>
              <a:srgbClr val="000000">
                <a:alpha val="0"/>
              </a:srgbClr>
            </a:solidFill>
            <a:ln w="66675" cap="rnd">
              <a:solidFill>
                <a:srgbClr val="FFFFFF"/>
              </a:solidFill>
              <a:prstDash val="solid"/>
              <a:round/>
            </a:ln>
          </p:spPr>
        </p:sp>
        <p:sp>
          <p:nvSpPr>
            <p:cNvPr name="TextBox 6" id="6"/>
            <p:cNvSpPr txBox="true"/>
            <p:nvPr/>
          </p:nvSpPr>
          <p:spPr>
            <a:xfrm>
              <a:off x="0" y="-47625"/>
              <a:ext cx="2103472" cy="504530"/>
            </a:xfrm>
            <a:prstGeom prst="rect">
              <a:avLst/>
            </a:prstGeom>
          </p:spPr>
          <p:txBody>
            <a:bodyPr anchor="ctr" rtlCol="false" tIns="50800" lIns="50800" bIns="50800" rIns="50800"/>
            <a:lstStyle/>
            <a:p>
              <a:pPr algn="ctr">
                <a:lnSpc>
                  <a:spcPts val="3258"/>
                </a:lnSpc>
              </a:pPr>
            </a:p>
          </p:txBody>
        </p:sp>
      </p:grpSp>
      <p:sp>
        <p:nvSpPr>
          <p:cNvPr name="TextBox 7" id="7"/>
          <p:cNvSpPr txBox="true"/>
          <p:nvPr/>
        </p:nvSpPr>
        <p:spPr>
          <a:xfrm rot="0">
            <a:off x="5082327" y="4402696"/>
            <a:ext cx="8123347" cy="1366971"/>
          </a:xfrm>
          <a:prstGeom prst="rect">
            <a:avLst/>
          </a:prstGeom>
        </p:spPr>
        <p:txBody>
          <a:bodyPr anchor="t" rtlCol="false" tIns="0" lIns="0" bIns="0" rIns="0">
            <a:spAutoFit/>
          </a:bodyPr>
          <a:lstStyle/>
          <a:p>
            <a:pPr algn="ctr" marL="0" indent="0" lvl="0">
              <a:lnSpc>
                <a:spcPts val="5374"/>
              </a:lnSpc>
            </a:pPr>
            <a:r>
              <a:rPr lang="en-US" b="true" sz="4885">
                <a:solidFill>
                  <a:srgbClr val="FFFFFF"/>
                </a:solidFill>
                <a:latin typeface="Aileron Bold"/>
                <a:ea typeface="Aileron Bold"/>
                <a:cs typeface="Aileron Bold"/>
                <a:sym typeface="Aileron Bold"/>
              </a:rPr>
              <a:t>Interactive Bubble Charts: Data Visualizations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19239" r="-19959" b="-31376"/>
            </a:stretch>
          </a:blipFill>
        </p:spPr>
      </p:sp>
      <p:sp>
        <p:nvSpPr>
          <p:cNvPr name="Freeform 3" id="3"/>
          <p:cNvSpPr/>
          <p:nvPr/>
        </p:nvSpPr>
        <p:spPr>
          <a:xfrm flipH="false" flipV="false" rot="8740858">
            <a:off x="-2805050" y="7542511"/>
            <a:ext cx="7446069" cy="7511797"/>
          </a:xfrm>
          <a:custGeom>
            <a:avLst/>
            <a:gdLst/>
            <a:ahLst/>
            <a:cxnLst/>
            <a:rect r="r" b="b" t="t" l="l"/>
            <a:pathLst>
              <a:path h="7511797" w="7446069">
                <a:moveTo>
                  <a:pt x="0" y="0"/>
                </a:moveTo>
                <a:lnTo>
                  <a:pt x="7446069" y="0"/>
                </a:lnTo>
                <a:lnTo>
                  <a:pt x="7446069" y="7511796"/>
                </a:lnTo>
                <a:lnTo>
                  <a:pt x="0" y="751179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851169">
            <a:off x="15357483" y="7432386"/>
            <a:ext cx="5861034" cy="5912771"/>
          </a:xfrm>
          <a:custGeom>
            <a:avLst/>
            <a:gdLst/>
            <a:ahLst/>
            <a:cxnLst/>
            <a:rect r="r" b="b" t="t" l="l"/>
            <a:pathLst>
              <a:path h="5912771" w="5861034">
                <a:moveTo>
                  <a:pt x="0" y="0"/>
                </a:moveTo>
                <a:lnTo>
                  <a:pt x="5861034" y="0"/>
                </a:lnTo>
                <a:lnTo>
                  <a:pt x="5861034" y="5912770"/>
                </a:lnTo>
                <a:lnTo>
                  <a:pt x="0" y="59127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5" id="5"/>
          <p:cNvGrpSpPr/>
          <p:nvPr/>
        </p:nvGrpSpPr>
        <p:grpSpPr>
          <a:xfrm rot="0">
            <a:off x="1223175" y="4557269"/>
            <a:ext cx="4887281" cy="200281"/>
            <a:chOff x="0" y="0"/>
            <a:chExt cx="1287185" cy="52749"/>
          </a:xfrm>
        </p:grpSpPr>
        <p:sp>
          <p:nvSpPr>
            <p:cNvPr name="Freeform 6" id="6"/>
            <p:cNvSpPr/>
            <p:nvPr/>
          </p:nvSpPr>
          <p:spPr>
            <a:xfrm flipH="false" flipV="false" rot="0">
              <a:off x="0" y="0"/>
              <a:ext cx="1287185" cy="52749"/>
            </a:xfrm>
            <a:custGeom>
              <a:avLst/>
              <a:gdLst/>
              <a:ahLst/>
              <a:cxnLst/>
              <a:rect r="r" b="b" t="t" l="l"/>
              <a:pathLst>
                <a:path h="52749" w="1287185">
                  <a:moveTo>
                    <a:pt x="26374" y="0"/>
                  </a:moveTo>
                  <a:lnTo>
                    <a:pt x="1260811" y="0"/>
                  </a:lnTo>
                  <a:cubicBezTo>
                    <a:pt x="1275377" y="0"/>
                    <a:pt x="1287185" y="11808"/>
                    <a:pt x="1287185" y="26374"/>
                  </a:cubicBezTo>
                  <a:lnTo>
                    <a:pt x="1287185" y="26374"/>
                  </a:lnTo>
                  <a:cubicBezTo>
                    <a:pt x="1287185" y="33369"/>
                    <a:pt x="1284406" y="40078"/>
                    <a:pt x="1279460" y="45024"/>
                  </a:cubicBezTo>
                  <a:cubicBezTo>
                    <a:pt x="1274514" y="49970"/>
                    <a:pt x="1267806" y="52749"/>
                    <a:pt x="1260811" y="52749"/>
                  </a:cubicBezTo>
                  <a:lnTo>
                    <a:pt x="26374" y="52749"/>
                  </a:lnTo>
                  <a:cubicBezTo>
                    <a:pt x="11808" y="52749"/>
                    <a:pt x="0" y="40941"/>
                    <a:pt x="0" y="26374"/>
                  </a:cubicBezTo>
                  <a:lnTo>
                    <a:pt x="0" y="26374"/>
                  </a:lnTo>
                  <a:cubicBezTo>
                    <a:pt x="0" y="11808"/>
                    <a:pt x="11808" y="0"/>
                    <a:pt x="26374" y="0"/>
                  </a:cubicBezTo>
                  <a:close/>
                </a:path>
              </a:pathLst>
            </a:custGeom>
            <a:solidFill>
              <a:srgbClr val="0E62F2"/>
            </a:solidFill>
          </p:spPr>
        </p:sp>
        <p:sp>
          <p:nvSpPr>
            <p:cNvPr name="TextBox 7" id="7"/>
            <p:cNvSpPr txBox="true"/>
            <p:nvPr/>
          </p:nvSpPr>
          <p:spPr>
            <a:xfrm>
              <a:off x="0" y="-47625"/>
              <a:ext cx="1287185" cy="100374"/>
            </a:xfrm>
            <a:prstGeom prst="rect">
              <a:avLst/>
            </a:prstGeom>
          </p:spPr>
          <p:txBody>
            <a:bodyPr anchor="ctr" rtlCol="false" tIns="50800" lIns="50800" bIns="50800" rIns="50800"/>
            <a:lstStyle/>
            <a:p>
              <a:pPr algn="ctr">
                <a:lnSpc>
                  <a:spcPts val="3258"/>
                </a:lnSpc>
              </a:pPr>
            </a:p>
          </p:txBody>
        </p:sp>
      </p:grpSp>
      <p:grpSp>
        <p:nvGrpSpPr>
          <p:cNvPr name="Group 8" id="8"/>
          <p:cNvGrpSpPr/>
          <p:nvPr/>
        </p:nvGrpSpPr>
        <p:grpSpPr>
          <a:xfrm rot="0">
            <a:off x="3446918" y="7192973"/>
            <a:ext cx="4887281" cy="200281"/>
            <a:chOff x="0" y="0"/>
            <a:chExt cx="1287185" cy="52749"/>
          </a:xfrm>
        </p:grpSpPr>
        <p:sp>
          <p:nvSpPr>
            <p:cNvPr name="Freeform 9" id="9"/>
            <p:cNvSpPr/>
            <p:nvPr/>
          </p:nvSpPr>
          <p:spPr>
            <a:xfrm flipH="false" flipV="false" rot="0">
              <a:off x="0" y="0"/>
              <a:ext cx="1287185" cy="52749"/>
            </a:xfrm>
            <a:custGeom>
              <a:avLst/>
              <a:gdLst/>
              <a:ahLst/>
              <a:cxnLst/>
              <a:rect r="r" b="b" t="t" l="l"/>
              <a:pathLst>
                <a:path h="52749" w="1287185">
                  <a:moveTo>
                    <a:pt x="26374" y="0"/>
                  </a:moveTo>
                  <a:lnTo>
                    <a:pt x="1260811" y="0"/>
                  </a:lnTo>
                  <a:cubicBezTo>
                    <a:pt x="1275377" y="0"/>
                    <a:pt x="1287185" y="11808"/>
                    <a:pt x="1287185" y="26374"/>
                  </a:cubicBezTo>
                  <a:lnTo>
                    <a:pt x="1287185" y="26374"/>
                  </a:lnTo>
                  <a:cubicBezTo>
                    <a:pt x="1287185" y="33369"/>
                    <a:pt x="1284406" y="40078"/>
                    <a:pt x="1279460" y="45024"/>
                  </a:cubicBezTo>
                  <a:cubicBezTo>
                    <a:pt x="1274514" y="49970"/>
                    <a:pt x="1267806" y="52749"/>
                    <a:pt x="1260811" y="52749"/>
                  </a:cubicBezTo>
                  <a:lnTo>
                    <a:pt x="26374" y="52749"/>
                  </a:lnTo>
                  <a:cubicBezTo>
                    <a:pt x="11808" y="52749"/>
                    <a:pt x="0" y="40941"/>
                    <a:pt x="0" y="26374"/>
                  </a:cubicBezTo>
                  <a:lnTo>
                    <a:pt x="0" y="26374"/>
                  </a:lnTo>
                  <a:cubicBezTo>
                    <a:pt x="0" y="11808"/>
                    <a:pt x="11808" y="0"/>
                    <a:pt x="26374" y="0"/>
                  </a:cubicBezTo>
                  <a:close/>
                </a:path>
              </a:pathLst>
            </a:custGeom>
            <a:solidFill>
              <a:srgbClr val="0E62F2"/>
            </a:solidFill>
          </p:spPr>
        </p:sp>
        <p:sp>
          <p:nvSpPr>
            <p:cNvPr name="TextBox 10" id="10"/>
            <p:cNvSpPr txBox="true"/>
            <p:nvPr/>
          </p:nvSpPr>
          <p:spPr>
            <a:xfrm>
              <a:off x="0" y="-47625"/>
              <a:ext cx="1287185" cy="100374"/>
            </a:xfrm>
            <a:prstGeom prst="rect">
              <a:avLst/>
            </a:prstGeom>
          </p:spPr>
          <p:txBody>
            <a:bodyPr anchor="ctr" rtlCol="false" tIns="50800" lIns="50800" bIns="50800" rIns="50800"/>
            <a:lstStyle/>
            <a:p>
              <a:pPr algn="ctr">
                <a:lnSpc>
                  <a:spcPts val="3258"/>
                </a:lnSpc>
              </a:pPr>
            </a:p>
          </p:txBody>
        </p:sp>
      </p:grpSp>
      <p:sp>
        <p:nvSpPr>
          <p:cNvPr name="TextBox 11" id="11"/>
          <p:cNvSpPr txBox="true"/>
          <p:nvPr/>
        </p:nvSpPr>
        <p:spPr>
          <a:xfrm rot="0">
            <a:off x="1249326" y="2105780"/>
            <a:ext cx="4887281" cy="2287406"/>
          </a:xfrm>
          <a:prstGeom prst="rect">
            <a:avLst/>
          </a:prstGeom>
        </p:spPr>
        <p:txBody>
          <a:bodyPr anchor="t" rtlCol="false" tIns="0" lIns="0" bIns="0" rIns="0">
            <a:spAutoFit/>
          </a:bodyPr>
          <a:lstStyle/>
          <a:p>
            <a:pPr algn="just" marL="473820" indent="-236910" lvl="1">
              <a:lnSpc>
                <a:spcPts val="3072"/>
              </a:lnSpc>
              <a:buFont typeface="Arial"/>
              <a:buChar char="•"/>
            </a:pPr>
            <a:r>
              <a:rPr lang="en-US" sz="2194">
                <a:solidFill>
                  <a:srgbClr val="000000"/>
                </a:solidFill>
                <a:latin typeface="Public Sans"/>
                <a:ea typeface="Public Sans"/>
                <a:cs typeface="Public Sans"/>
                <a:sym typeface="Public Sans"/>
              </a:rPr>
              <a:t>More countries experienced negative GDP growth by 2023, </a:t>
            </a:r>
          </a:p>
          <a:p>
            <a:pPr algn="just" marL="473820" indent="-236910" lvl="1">
              <a:lnSpc>
                <a:spcPts val="3072"/>
              </a:lnSpc>
              <a:buFont typeface="Arial"/>
              <a:buChar char="•"/>
            </a:pPr>
            <a:r>
              <a:rPr lang="en-US" sz="2194">
                <a:solidFill>
                  <a:srgbClr val="000000"/>
                </a:solidFill>
                <a:latin typeface="Public Sans"/>
                <a:ea typeface="Public Sans"/>
                <a:cs typeface="Public Sans"/>
                <a:sym typeface="Public Sans"/>
              </a:rPr>
              <a:t>While some countries recovered quickly, many faced ongoing challenges such as inflation and reduced consumer spending.</a:t>
            </a:r>
          </a:p>
        </p:txBody>
      </p:sp>
      <p:sp>
        <p:nvSpPr>
          <p:cNvPr name="TextBox 12" id="12"/>
          <p:cNvSpPr txBox="true"/>
          <p:nvPr/>
        </p:nvSpPr>
        <p:spPr>
          <a:xfrm rot="0">
            <a:off x="1275478" y="1514741"/>
            <a:ext cx="4834979" cy="441968"/>
          </a:xfrm>
          <a:prstGeom prst="rect">
            <a:avLst/>
          </a:prstGeom>
        </p:spPr>
        <p:txBody>
          <a:bodyPr anchor="t" rtlCol="false" tIns="0" lIns="0" bIns="0" rIns="0">
            <a:spAutoFit/>
          </a:bodyPr>
          <a:lstStyle/>
          <a:p>
            <a:pPr algn="just">
              <a:lnSpc>
                <a:spcPts val="3586"/>
              </a:lnSpc>
            </a:pPr>
            <a:r>
              <a:rPr lang="en-US" sz="2561" b="true">
                <a:solidFill>
                  <a:srgbClr val="004CCF"/>
                </a:solidFill>
                <a:latin typeface="Public Sans Bold"/>
                <a:ea typeface="Public Sans Bold"/>
                <a:cs typeface="Public Sans Bold"/>
                <a:sym typeface="Public Sans Bold"/>
              </a:rPr>
              <a:t>Inflation Rate vs GDP Growth</a:t>
            </a:r>
          </a:p>
        </p:txBody>
      </p:sp>
      <p:sp>
        <p:nvSpPr>
          <p:cNvPr name="TextBox 13" id="13"/>
          <p:cNvSpPr txBox="true"/>
          <p:nvPr/>
        </p:nvSpPr>
        <p:spPr>
          <a:xfrm rot="0">
            <a:off x="3446918" y="5378733"/>
            <a:ext cx="6397564" cy="1599067"/>
          </a:xfrm>
          <a:prstGeom prst="rect">
            <a:avLst/>
          </a:prstGeom>
        </p:spPr>
        <p:txBody>
          <a:bodyPr anchor="t" rtlCol="false" tIns="0" lIns="0" bIns="0" rIns="0">
            <a:spAutoFit/>
          </a:bodyPr>
          <a:lstStyle/>
          <a:p>
            <a:pPr algn="just" marL="495410" indent="-247705" lvl="1">
              <a:lnSpc>
                <a:spcPts val="3212"/>
              </a:lnSpc>
              <a:buFont typeface="Arial"/>
              <a:buChar char="•"/>
            </a:pPr>
            <a:r>
              <a:rPr lang="en-US" sz="2294">
                <a:solidFill>
                  <a:srgbClr val="000000"/>
                </a:solidFill>
                <a:latin typeface="Public Sans"/>
                <a:ea typeface="Public Sans"/>
                <a:cs typeface="Public Sans"/>
                <a:sym typeface="Public Sans"/>
              </a:rPr>
              <a:t>While urbanization rates increased globally, indicating a shift toward city living, population growth remained relatively stable</a:t>
            </a:r>
          </a:p>
        </p:txBody>
      </p:sp>
      <p:sp>
        <p:nvSpPr>
          <p:cNvPr name="TextBox 14" id="14"/>
          <p:cNvSpPr txBox="true"/>
          <p:nvPr/>
        </p:nvSpPr>
        <p:spPr>
          <a:xfrm rot="0">
            <a:off x="3446918" y="4993914"/>
            <a:ext cx="6397564" cy="441968"/>
          </a:xfrm>
          <a:prstGeom prst="rect">
            <a:avLst/>
          </a:prstGeom>
        </p:spPr>
        <p:txBody>
          <a:bodyPr anchor="t" rtlCol="false" tIns="0" lIns="0" bIns="0" rIns="0">
            <a:spAutoFit/>
          </a:bodyPr>
          <a:lstStyle/>
          <a:p>
            <a:pPr algn="just">
              <a:lnSpc>
                <a:spcPts val="3586"/>
              </a:lnSpc>
            </a:pPr>
            <a:r>
              <a:rPr lang="en-US" sz="2561" b="true">
                <a:solidFill>
                  <a:srgbClr val="004CCF"/>
                </a:solidFill>
                <a:latin typeface="Public Sans Bold"/>
                <a:ea typeface="Public Sans Bold"/>
                <a:cs typeface="Public Sans Bold"/>
                <a:sym typeface="Public Sans Bold"/>
              </a:rPr>
              <a:t>Urbanization Rate vs Population Growth</a:t>
            </a:r>
          </a:p>
        </p:txBody>
      </p:sp>
      <p:sp>
        <p:nvSpPr>
          <p:cNvPr name="TextBox 15" id="15"/>
          <p:cNvSpPr txBox="true"/>
          <p:nvPr/>
        </p:nvSpPr>
        <p:spPr>
          <a:xfrm rot="0">
            <a:off x="8748208" y="7931890"/>
            <a:ext cx="5749485" cy="1906406"/>
          </a:xfrm>
          <a:prstGeom prst="rect">
            <a:avLst/>
          </a:prstGeom>
        </p:spPr>
        <p:txBody>
          <a:bodyPr anchor="t" rtlCol="false" tIns="0" lIns="0" bIns="0" rIns="0">
            <a:spAutoFit/>
          </a:bodyPr>
          <a:lstStyle/>
          <a:p>
            <a:pPr algn="just" marL="473820" indent="-236910" lvl="1">
              <a:lnSpc>
                <a:spcPts val="3072"/>
              </a:lnSpc>
              <a:buFont typeface="Arial"/>
              <a:buChar char="•"/>
            </a:pPr>
            <a:r>
              <a:rPr lang="en-US" sz="2194">
                <a:solidFill>
                  <a:srgbClr val="000000"/>
                </a:solidFill>
                <a:latin typeface="Public Sans"/>
                <a:ea typeface="Public Sans"/>
                <a:cs typeface="Public Sans"/>
                <a:sym typeface="Public Sans"/>
              </a:rPr>
              <a:t>In 2020, only European countries had a lower affordability ratio,</a:t>
            </a:r>
          </a:p>
          <a:p>
            <a:pPr algn="just" marL="473820" indent="-236910" lvl="1">
              <a:lnSpc>
                <a:spcPts val="3072"/>
              </a:lnSpc>
              <a:buFont typeface="Arial"/>
              <a:buChar char="•"/>
            </a:pPr>
            <a:r>
              <a:rPr lang="en-US" sz="2194">
                <a:solidFill>
                  <a:srgbClr val="000000"/>
                </a:solidFill>
                <a:latin typeface="Public Sans"/>
                <a:ea typeface="Public Sans"/>
                <a:cs typeface="Public Sans"/>
                <a:sym typeface="Public Sans"/>
              </a:rPr>
              <a:t>By 2023, other regions like Asia, Oceania, and North America also saw more affordable housing. </a:t>
            </a:r>
          </a:p>
        </p:txBody>
      </p:sp>
      <p:sp>
        <p:nvSpPr>
          <p:cNvPr name="TextBox 16" id="16"/>
          <p:cNvSpPr txBox="true"/>
          <p:nvPr/>
        </p:nvSpPr>
        <p:spPr>
          <a:xfrm rot="0">
            <a:off x="8748208" y="7423247"/>
            <a:ext cx="5516484" cy="441968"/>
          </a:xfrm>
          <a:prstGeom prst="rect">
            <a:avLst/>
          </a:prstGeom>
        </p:spPr>
        <p:txBody>
          <a:bodyPr anchor="t" rtlCol="false" tIns="0" lIns="0" bIns="0" rIns="0">
            <a:spAutoFit/>
          </a:bodyPr>
          <a:lstStyle/>
          <a:p>
            <a:pPr algn="just">
              <a:lnSpc>
                <a:spcPts val="3586"/>
              </a:lnSpc>
            </a:pPr>
            <a:r>
              <a:rPr lang="en-US" sz="2561" b="true">
                <a:solidFill>
                  <a:srgbClr val="004CCF"/>
                </a:solidFill>
                <a:latin typeface="Public Sans Bold"/>
                <a:ea typeface="Public Sans Bold"/>
                <a:cs typeface="Public Sans Bold"/>
                <a:sym typeface="Public Sans Bold"/>
              </a:rPr>
              <a:t>Affordability Ratio vs Rent Index</a:t>
            </a:r>
          </a:p>
        </p:txBody>
      </p:sp>
      <p:sp>
        <p:nvSpPr>
          <p:cNvPr name="TextBox 17" id="17"/>
          <p:cNvSpPr txBox="true"/>
          <p:nvPr/>
        </p:nvSpPr>
        <p:spPr>
          <a:xfrm rot="0">
            <a:off x="9144000" y="1441870"/>
            <a:ext cx="6506313" cy="721060"/>
          </a:xfrm>
          <a:prstGeom prst="rect">
            <a:avLst/>
          </a:prstGeom>
        </p:spPr>
        <p:txBody>
          <a:bodyPr anchor="t" rtlCol="false" tIns="0" lIns="0" bIns="0" rIns="0">
            <a:spAutoFit/>
          </a:bodyPr>
          <a:lstStyle/>
          <a:p>
            <a:pPr algn="r" marL="0" indent="0" lvl="0">
              <a:lnSpc>
                <a:spcPts val="5597"/>
              </a:lnSpc>
              <a:spcBef>
                <a:spcPct val="0"/>
              </a:spcBef>
            </a:pPr>
            <a:r>
              <a:rPr lang="en-US" b="true" sz="5280">
                <a:solidFill>
                  <a:srgbClr val="004CCF"/>
                </a:solidFill>
                <a:latin typeface="Aileron Ultra-Bold"/>
                <a:ea typeface="Aileron Ultra-Bold"/>
                <a:cs typeface="Aileron Ultra-Bold"/>
                <a:sym typeface="Aileron Ultra-Bold"/>
              </a:rPr>
              <a:t>Key Takeaways</a:t>
            </a:r>
          </a:p>
        </p:txBody>
      </p:sp>
      <p:sp>
        <p:nvSpPr>
          <p:cNvPr name="TextBox 18" id="18"/>
          <p:cNvSpPr txBox="true"/>
          <p:nvPr/>
        </p:nvSpPr>
        <p:spPr>
          <a:xfrm rot="0">
            <a:off x="10569825" y="2225314"/>
            <a:ext cx="6535778" cy="3515995"/>
          </a:xfrm>
          <a:prstGeom prst="rect">
            <a:avLst/>
          </a:prstGeom>
        </p:spPr>
        <p:txBody>
          <a:bodyPr anchor="t" rtlCol="false" tIns="0" lIns="0" bIns="0" rIns="0">
            <a:spAutoFit/>
          </a:bodyPr>
          <a:lstStyle/>
          <a:p>
            <a:pPr algn="just">
              <a:lnSpc>
                <a:spcPts val="3079"/>
              </a:lnSpc>
            </a:pPr>
            <a:r>
              <a:rPr lang="en-US" sz="2199">
                <a:solidFill>
                  <a:srgbClr val="000000"/>
                </a:solidFill>
                <a:latin typeface="Public Sans"/>
                <a:ea typeface="Public Sans"/>
                <a:cs typeface="Public Sans"/>
                <a:sym typeface="Public Sans"/>
              </a:rPr>
              <a:t>The following takeaways provide insights into global housing market trends during the COVID-19 pandemic, focusing on data from a small sample of only 20 countries. It is important to note that this dataset is not fully representative, as certain regions are disproportionately represented, potentially limiting the generalizability of the findings to broader global trends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2777" r="-9579" b="-24805"/>
            </a:stretch>
          </a:blipFill>
        </p:spPr>
      </p:sp>
      <p:grpSp>
        <p:nvGrpSpPr>
          <p:cNvPr name="Group 3" id="3"/>
          <p:cNvGrpSpPr/>
          <p:nvPr/>
        </p:nvGrpSpPr>
        <p:grpSpPr>
          <a:xfrm rot="0">
            <a:off x="1130251" y="-388082"/>
            <a:ext cx="16104051" cy="9646382"/>
            <a:chOff x="0" y="0"/>
            <a:chExt cx="3937221" cy="2358409"/>
          </a:xfrm>
        </p:grpSpPr>
        <p:sp>
          <p:nvSpPr>
            <p:cNvPr name="Freeform 4" id="4"/>
            <p:cNvSpPr/>
            <p:nvPr/>
          </p:nvSpPr>
          <p:spPr>
            <a:xfrm flipH="false" flipV="false" rot="0">
              <a:off x="0" y="0"/>
              <a:ext cx="3937221" cy="2358409"/>
            </a:xfrm>
            <a:custGeom>
              <a:avLst/>
              <a:gdLst/>
              <a:ahLst/>
              <a:cxnLst/>
              <a:rect r="r" b="b" t="t" l="l"/>
              <a:pathLst>
                <a:path h="2358409" w="3937221">
                  <a:moveTo>
                    <a:pt x="48074" y="0"/>
                  </a:moveTo>
                  <a:lnTo>
                    <a:pt x="3889147" y="0"/>
                  </a:lnTo>
                  <a:cubicBezTo>
                    <a:pt x="3915697" y="0"/>
                    <a:pt x="3937221" y="21524"/>
                    <a:pt x="3937221" y="48074"/>
                  </a:cubicBezTo>
                  <a:lnTo>
                    <a:pt x="3937221" y="2310335"/>
                  </a:lnTo>
                  <a:cubicBezTo>
                    <a:pt x="3937221" y="2336885"/>
                    <a:pt x="3915697" y="2358409"/>
                    <a:pt x="3889147" y="2358409"/>
                  </a:cubicBezTo>
                  <a:lnTo>
                    <a:pt x="48074" y="2358409"/>
                  </a:lnTo>
                  <a:cubicBezTo>
                    <a:pt x="21524" y="2358409"/>
                    <a:pt x="0" y="2336885"/>
                    <a:pt x="0" y="2310335"/>
                  </a:cubicBezTo>
                  <a:lnTo>
                    <a:pt x="0" y="48074"/>
                  </a:lnTo>
                  <a:cubicBezTo>
                    <a:pt x="0" y="21524"/>
                    <a:pt x="21524" y="0"/>
                    <a:pt x="48074" y="0"/>
                  </a:cubicBezTo>
                  <a:close/>
                </a:path>
              </a:pathLst>
            </a:custGeom>
            <a:solidFill>
              <a:srgbClr val="004CCF"/>
            </a:solidFill>
          </p:spPr>
        </p:sp>
        <p:sp>
          <p:nvSpPr>
            <p:cNvPr name="TextBox 5" id="5"/>
            <p:cNvSpPr txBox="true"/>
            <p:nvPr/>
          </p:nvSpPr>
          <p:spPr>
            <a:xfrm>
              <a:off x="0" y="-47625"/>
              <a:ext cx="3937221" cy="2406034"/>
            </a:xfrm>
            <a:prstGeom prst="rect">
              <a:avLst/>
            </a:prstGeom>
          </p:spPr>
          <p:txBody>
            <a:bodyPr anchor="ctr" rtlCol="false" tIns="52405" lIns="52405" bIns="52405" rIns="52405"/>
            <a:lstStyle/>
            <a:p>
              <a:pPr algn="ctr">
                <a:lnSpc>
                  <a:spcPts val="3258"/>
                </a:lnSpc>
              </a:pPr>
            </a:p>
          </p:txBody>
        </p:sp>
      </p:grpSp>
      <p:sp>
        <p:nvSpPr>
          <p:cNvPr name="Freeform 6" id="6"/>
          <p:cNvSpPr/>
          <p:nvPr/>
        </p:nvSpPr>
        <p:spPr>
          <a:xfrm flipH="true" flipV="false" rot="-8742000">
            <a:off x="15776987" y="-655446"/>
            <a:ext cx="7446069" cy="7511797"/>
          </a:xfrm>
          <a:custGeom>
            <a:avLst/>
            <a:gdLst/>
            <a:ahLst/>
            <a:cxnLst/>
            <a:rect r="r" b="b" t="t" l="l"/>
            <a:pathLst>
              <a:path h="7511797" w="7446069">
                <a:moveTo>
                  <a:pt x="7446069" y="0"/>
                </a:moveTo>
                <a:lnTo>
                  <a:pt x="0" y="0"/>
                </a:lnTo>
                <a:lnTo>
                  <a:pt x="0" y="7511797"/>
                </a:lnTo>
                <a:lnTo>
                  <a:pt x="7446069" y="7511797"/>
                </a:lnTo>
                <a:lnTo>
                  <a:pt x="7446069"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7" id="7"/>
          <p:cNvGrpSpPr/>
          <p:nvPr/>
        </p:nvGrpSpPr>
        <p:grpSpPr>
          <a:xfrm rot="0">
            <a:off x="13639124" y="-178894"/>
            <a:ext cx="4896659" cy="4896659"/>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0" y="0"/>
                  </a:moveTo>
                  <a:cubicBezTo>
                    <a:pt x="0" y="3506470"/>
                    <a:pt x="2843530" y="6350000"/>
                    <a:pt x="6350000" y="6350000"/>
                  </a:cubicBezTo>
                  <a:lnTo>
                    <a:pt x="6350000" y="0"/>
                  </a:lnTo>
                  <a:lnTo>
                    <a:pt x="0" y="0"/>
                  </a:lnTo>
                  <a:close/>
                </a:path>
              </a:pathLst>
            </a:custGeom>
            <a:blipFill>
              <a:blip r:embed="rId5"/>
              <a:stretch>
                <a:fillRect l="-45923" t="0" r="-45923" b="0"/>
              </a:stretch>
            </a:blipFill>
            <a:ln w="142875" cap="sq">
              <a:solidFill>
                <a:srgbClr val="5A93F6"/>
              </a:solidFill>
              <a:prstDash val="solid"/>
              <a:miter/>
            </a:ln>
          </p:spPr>
        </p:sp>
      </p:grpSp>
      <p:sp>
        <p:nvSpPr>
          <p:cNvPr name="Freeform 9" id="9"/>
          <p:cNvSpPr/>
          <p:nvPr/>
        </p:nvSpPr>
        <p:spPr>
          <a:xfrm flipH="false" flipV="false" rot="8740858">
            <a:off x="-4934722" y="-655446"/>
            <a:ext cx="7446069" cy="7511797"/>
          </a:xfrm>
          <a:custGeom>
            <a:avLst/>
            <a:gdLst/>
            <a:ahLst/>
            <a:cxnLst/>
            <a:rect r="r" b="b" t="t" l="l"/>
            <a:pathLst>
              <a:path h="7511797" w="7446069">
                <a:moveTo>
                  <a:pt x="0" y="0"/>
                </a:moveTo>
                <a:lnTo>
                  <a:pt x="7446068" y="0"/>
                </a:lnTo>
                <a:lnTo>
                  <a:pt x="7446068" y="7511797"/>
                </a:lnTo>
                <a:lnTo>
                  <a:pt x="0" y="75117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grpSp>
        <p:nvGrpSpPr>
          <p:cNvPr name="Group 10" id="10"/>
          <p:cNvGrpSpPr/>
          <p:nvPr/>
        </p:nvGrpSpPr>
        <p:grpSpPr>
          <a:xfrm rot="0">
            <a:off x="-247783" y="-178894"/>
            <a:ext cx="4896659" cy="4896659"/>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0" y="0"/>
                  </a:moveTo>
                  <a:lnTo>
                    <a:pt x="0" y="6350000"/>
                  </a:lnTo>
                  <a:cubicBezTo>
                    <a:pt x="3506470" y="6350000"/>
                    <a:pt x="6350000" y="3506470"/>
                    <a:pt x="6350000" y="0"/>
                  </a:cubicBezTo>
                  <a:lnTo>
                    <a:pt x="0" y="0"/>
                  </a:lnTo>
                  <a:close/>
                </a:path>
              </a:pathLst>
            </a:custGeom>
            <a:blipFill>
              <a:blip r:embed="rId6"/>
              <a:stretch>
                <a:fillRect l="-16666" t="0" r="-16666" b="0"/>
              </a:stretch>
            </a:blipFill>
            <a:ln w="142875" cap="sq">
              <a:solidFill>
                <a:srgbClr val="5A93F6"/>
              </a:solidFill>
              <a:prstDash val="solid"/>
              <a:miter/>
            </a:ln>
          </p:spPr>
        </p:sp>
      </p:grpSp>
      <p:grpSp>
        <p:nvGrpSpPr>
          <p:cNvPr name="Group 12" id="12"/>
          <p:cNvGrpSpPr/>
          <p:nvPr/>
        </p:nvGrpSpPr>
        <p:grpSpPr>
          <a:xfrm rot="0">
            <a:off x="4808456" y="4137418"/>
            <a:ext cx="8671088" cy="2012164"/>
            <a:chOff x="0" y="0"/>
            <a:chExt cx="2137744" cy="496073"/>
          </a:xfrm>
        </p:grpSpPr>
        <p:sp>
          <p:nvSpPr>
            <p:cNvPr name="Freeform 13" id="13"/>
            <p:cNvSpPr/>
            <p:nvPr/>
          </p:nvSpPr>
          <p:spPr>
            <a:xfrm flipH="false" flipV="false" rot="0">
              <a:off x="0" y="0"/>
              <a:ext cx="2137744" cy="496073"/>
            </a:xfrm>
            <a:custGeom>
              <a:avLst/>
              <a:gdLst/>
              <a:ahLst/>
              <a:cxnLst/>
              <a:rect r="r" b="b" t="t" l="l"/>
              <a:pathLst>
                <a:path h="496073" w="2137744">
                  <a:moveTo>
                    <a:pt x="89284" y="0"/>
                  </a:moveTo>
                  <a:lnTo>
                    <a:pt x="2048460" y="0"/>
                  </a:lnTo>
                  <a:cubicBezTo>
                    <a:pt x="2097770" y="0"/>
                    <a:pt x="2137744" y="39974"/>
                    <a:pt x="2137744" y="89284"/>
                  </a:cubicBezTo>
                  <a:lnTo>
                    <a:pt x="2137744" y="406789"/>
                  </a:lnTo>
                  <a:cubicBezTo>
                    <a:pt x="2137744" y="430468"/>
                    <a:pt x="2128338" y="453178"/>
                    <a:pt x="2111594" y="469922"/>
                  </a:cubicBezTo>
                  <a:cubicBezTo>
                    <a:pt x="2094849" y="486666"/>
                    <a:pt x="2072140" y="496073"/>
                    <a:pt x="2048460" y="496073"/>
                  </a:cubicBezTo>
                  <a:lnTo>
                    <a:pt x="89284" y="496073"/>
                  </a:lnTo>
                  <a:cubicBezTo>
                    <a:pt x="39974" y="496073"/>
                    <a:pt x="0" y="456099"/>
                    <a:pt x="0" y="406789"/>
                  </a:cubicBezTo>
                  <a:lnTo>
                    <a:pt x="0" y="89284"/>
                  </a:lnTo>
                  <a:cubicBezTo>
                    <a:pt x="0" y="39974"/>
                    <a:pt x="39974" y="0"/>
                    <a:pt x="89284" y="0"/>
                  </a:cubicBezTo>
                  <a:close/>
                </a:path>
              </a:pathLst>
            </a:custGeom>
            <a:solidFill>
              <a:srgbClr val="000000">
                <a:alpha val="0"/>
              </a:srgbClr>
            </a:solidFill>
            <a:ln w="66675" cap="rnd">
              <a:solidFill>
                <a:srgbClr val="FFFFFF"/>
              </a:solidFill>
              <a:prstDash val="solid"/>
              <a:round/>
            </a:ln>
          </p:spPr>
        </p:sp>
        <p:sp>
          <p:nvSpPr>
            <p:cNvPr name="TextBox 14" id="14"/>
            <p:cNvSpPr txBox="true"/>
            <p:nvPr/>
          </p:nvSpPr>
          <p:spPr>
            <a:xfrm>
              <a:off x="0" y="-47625"/>
              <a:ext cx="2137744" cy="543698"/>
            </a:xfrm>
            <a:prstGeom prst="rect">
              <a:avLst/>
            </a:prstGeom>
          </p:spPr>
          <p:txBody>
            <a:bodyPr anchor="ctr" rtlCol="false" tIns="50800" lIns="50800" bIns="50800" rIns="50800"/>
            <a:lstStyle/>
            <a:p>
              <a:pPr algn="ctr">
                <a:lnSpc>
                  <a:spcPts val="3258"/>
                </a:lnSpc>
              </a:pPr>
            </a:p>
          </p:txBody>
        </p:sp>
      </p:grpSp>
      <p:sp>
        <p:nvSpPr>
          <p:cNvPr name="TextBox 15" id="15"/>
          <p:cNvSpPr txBox="true"/>
          <p:nvPr/>
        </p:nvSpPr>
        <p:spPr>
          <a:xfrm rot="0">
            <a:off x="5082327" y="4490343"/>
            <a:ext cx="8123347" cy="1366971"/>
          </a:xfrm>
          <a:prstGeom prst="rect">
            <a:avLst/>
          </a:prstGeom>
        </p:spPr>
        <p:txBody>
          <a:bodyPr anchor="t" rtlCol="false" tIns="0" lIns="0" bIns="0" rIns="0">
            <a:spAutoFit/>
          </a:bodyPr>
          <a:lstStyle/>
          <a:p>
            <a:pPr algn="ctr">
              <a:lnSpc>
                <a:spcPts val="5374"/>
              </a:lnSpc>
            </a:pPr>
            <a:r>
              <a:rPr lang="en-US" sz="4885" b="true">
                <a:solidFill>
                  <a:srgbClr val="FFFFFF"/>
                </a:solidFill>
                <a:latin typeface="Aileron Ultra-Bold"/>
                <a:ea typeface="Aileron Ultra-Bold"/>
                <a:cs typeface="Aileron Ultra-Bold"/>
                <a:sym typeface="Aileron Ultra-Bold"/>
              </a:rPr>
              <a:t>Concluding </a:t>
            </a:r>
          </a:p>
          <a:p>
            <a:pPr algn="ctr" marL="0" indent="0" lvl="0">
              <a:lnSpc>
                <a:spcPts val="5374"/>
              </a:lnSpc>
            </a:pPr>
            <a:r>
              <a:rPr lang="en-US" b="true" sz="4885">
                <a:solidFill>
                  <a:srgbClr val="FFFFFF"/>
                </a:solidFill>
                <a:latin typeface="Aileron Ultra-Bold"/>
                <a:ea typeface="Aileron Ultra-Bold"/>
                <a:cs typeface="Aileron Ultra-Bold"/>
                <a:sym typeface="Aileron Ultra-Bold"/>
              </a:rPr>
              <a:t>Remarks</a:t>
            </a:r>
          </a:p>
        </p:txBody>
      </p:sp>
      <p:sp>
        <p:nvSpPr>
          <p:cNvPr name="TextBox 16" id="16"/>
          <p:cNvSpPr txBox="true"/>
          <p:nvPr/>
        </p:nvSpPr>
        <p:spPr>
          <a:xfrm rot="0">
            <a:off x="3481874" y="6410179"/>
            <a:ext cx="11324251" cy="2622550"/>
          </a:xfrm>
          <a:prstGeom prst="rect">
            <a:avLst/>
          </a:prstGeom>
        </p:spPr>
        <p:txBody>
          <a:bodyPr anchor="t" rtlCol="false" tIns="0" lIns="0" bIns="0" rIns="0">
            <a:spAutoFit/>
          </a:bodyPr>
          <a:lstStyle/>
          <a:p>
            <a:pPr algn="ctr" marL="0" indent="0" lvl="0">
              <a:lnSpc>
                <a:spcPts val="3499"/>
              </a:lnSpc>
              <a:spcBef>
                <a:spcPct val="0"/>
              </a:spcBef>
            </a:pPr>
            <a:r>
              <a:rPr lang="en-US" b="true" sz="2499">
                <a:solidFill>
                  <a:srgbClr val="FFFFFF"/>
                </a:solidFill>
                <a:latin typeface="Public Sans Bold"/>
                <a:ea typeface="Public Sans Bold"/>
                <a:cs typeface="Public Sans Bold"/>
                <a:sym typeface="Public Sans Bold"/>
              </a:rPr>
              <a:t>In conclusion, this analysis highlights how global housing markets were impacted by the COVID-19 pandemic, revealing significant shifts in affordability, GDP growth, and urbanization. While the findings offer valuable insights, the dataset's limitations emphasize the need for a broader, more diverse set of countries to fully understand the pandemic's long-term effects on global real estate.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687904">
            <a:off x="-839917" y="-1714924"/>
            <a:ext cx="19967835" cy="13716849"/>
          </a:xfrm>
          <a:custGeom>
            <a:avLst/>
            <a:gdLst/>
            <a:ahLst/>
            <a:cxnLst/>
            <a:rect r="r" b="b" t="t" l="l"/>
            <a:pathLst>
              <a:path h="13716849" w="19967835">
                <a:moveTo>
                  <a:pt x="17923082" y="0"/>
                </a:moveTo>
                <a:lnTo>
                  <a:pt x="0" y="3635115"/>
                </a:lnTo>
                <a:lnTo>
                  <a:pt x="2044752" y="13716848"/>
                </a:lnTo>
                <a:lnTo>
                  <a:pt x="19967834" y="10081733"/>
                </a:lnTo>
                <a:lnTo>
                  <a:pt x="17923082" y="0"/>
                </a:lnTo>
                <a:close/>
              </a:path>
            </a:pathLst>
          </a:custGeom>
          <a:blipFill>
            <a:blip r:embed="rId2"/>
            <a:stretch>
              <a:fillRect l="-1391" t="-12916" r="-8439" b="0"/>
            </a:stretch>
          </a:blipFill>
        </p:spPr>
      </p:sp>
      <p:grpSp>
        <p:nvGrpSpPr>
          <p:cNvPr name="Group 3" id="3"/>
          <p:cNvGrpSpPr/>
          <p:nvPr/>
        </p:nvGrpSpPr>
        <p:grpSpPr>
          <a:xfrm rot="0">
            <a:off x="0" y="0"/>
            <a:ext cx="18288000" cy="2891960"/>
            <a:chOff x="0" y="0"/>
            <a:chExt cx="4816593" cy="761668"/>
          </a:xfrm>
        </p:grpSpPr>
        <p:sp>
          <p:nvSpPr>
            <p:cNvPr name="Freeform 4" id="4"/>
            <p:cNvSpPr/>
            <p:nvPr/>
          </p:nvSpPr>
          <p:spPr>
            <a:xfrm flipH="false" flipV="false" rot="0">
              <a:off x="0" y="0"/>
              <a:ext cx="4816592" cy="761668"/>
            </a:xfrm>
            <a:custGeom>
              <a:avLst/>
              <a:gdLst/>
              <a:ahLst/>
              <a:cxnLst/>
              <a:rect r="r" b="b" t="t" l="l"/>
              <a:pathLst>
                <a:path h="761668" w="4816592">
                  <a:moveTo>
                    <a:pt x="0" y="0"/>
                  </a:moveTo>
                  <a:lnTo>
                    <a:pt x="4816592" y="0"/>
                  </a:lnTo>
                  <a:lnTo>
                    <a:pt x="4816592" y="761668"/>
                  </a:lnTo>
                  <a:lnTo>
                    <a:pt x="0" y="761668"/>
                  </a:lnTo>
                  <a:close/>
                </a:path>
              </a:pathLst>
            </a:custGeom>
            <a:solidFill>
              <a:srgbClr val="0E62F2"/>
            </a:solidFill>
          </p:spPr>
        </p:sp>
        <p:sp>
          <p:nvSpPr>
            <p:cNvPr name="TextBox 5" id="5"/>
            <p:cNvSpPr txBox="true"/>
            <p:nvPr/>
          </p:nvSpPr>
          <p:spPr>
            <a:xfrm>
              <a:off x="0" y="-47625"/>
              <a:ext cx="4816593" cy="809293"/>
            </a:xfrm>
            <a:prstGeom prst="rect">
              <a:avLst/>
            </a:prstGeom>
          </p:spPr>
          <p:txBody>
            <a:bodyPr anchor="ctr" rtlCol="false" tIns="50800" lIns="50800" bIns="50800" rIns="50800"/>
            <a:lstStyle/>
            <a:p>
              <a:pPr algn="ctr">
                <a:lnSpc>
                  <a:spcPts val="3258"/>
                </a:lnSpc>
              </a:pPr>
            </a:p>
          </p:txBody>
        </p:sp>
      </p:grpSp>
      <p:grpSp>
        <p:nvGrpSpPr>
          <p:cNvPr name="Group 6" id="6"/>
          <p:cNvGrpSpPr/>
          <p:nvPr/>
        </p:nvGrpSpPr>
        <p:grpSpPr>
          <a:xfrm rot="0">
            <a:off x="4356888" y="-215362"/>
            <a:ext cx="9574225" cy="4787112"/>
            <a:chOff x="0" y="0"/>
            <a:chExt cx="6350000" cy="3175000"/>
          </a:xfrm>
        </p:grpSpPr>
        <p:sp>
          <p:nvSpPr>
            <p:cNvPr name="Freeform 7" id="7"/>
            <p:cNvSpPr/>
            <p:nvPr/>
          </p:nvSpPr>
          <p:spPr>
            <a:xfrm flipH="false" flipV="false" rot="0">
              <a:off x="0" y="0"/>
              <a:ext cx="6350000" cy="3175000"/>
            </a:xfrm>
            <a:custGeom>
              <a:avLst/>
              <a:gdLst/>
              <a:ahLst/>
              <a:cxnLst/>
              <a:rect r="r" b="b" t="t" l="l"/>
              <a:pathLst>
                <a:path h="3175000" w="6350000">
                  <a:moveTo>
                    <a:pt x="3175000" y="3175000"/>
                  </a:moveTo>
                  <a:cubicBezTo>
                    <a:pt x="1421498" y="3175000"/>
                    <a:pt x="0" y="1753502"/>
                    <a:pt x="0" y="0"/>
                  </a:cubicBezTo>
                  <a:lnTo>
                    <a:pt x="6350000" y="0"/>
                  </a:lnTo>
                  <a:cubicBezTo>
                    <a:pt x="6350000" y="1753502"/>
                    <a:pt x="4928502" y="3175000"/>
                    <a:pt x="3175000" y="3175000"/>
                  </a:cubicBezTo>
                  <a:close/>
                </a:path>
              </a:pathLst>
            </a:custGeom>
            <a:blipFill>
              <a:blip r:embed="rId3"/>
              <a:stretch>
                <a:fillRect l="0" t="-16625" r="-10606" b="-30757"/>
              </a:stretch>
            </a:blipFill>
            <a:ln w="190500" cap="sq">
              <a:solidFill>
                <a:srgbClr val="0E62F2"/>
              </a:solidFill>
              <a:prstDash val="solid"/>
              <a:miter/>
            </a:ln>
          </p:spPr>
        </p:sp>
      </p:grpSp>
      <p:sp>
        <p:nvSpPr>
          <p:cNvPr name="Freeform 8" id="8"/>
          <p:cNvSpPr/>
          <p:nvPr/>
        </p:nvSpPr>
        <p:spPr>
          <a:xfrm flipH="false" flipV="false" rot="3441647">
            <a:off x="15731462" y="4847411"/>
            <a:ext cx="6394424" cy="6386431"/>
          </a:xfrm>
          <a:custGeom>
            <a:avLst/>
            <a:gdLst/>
            <a:ahLst/>
            <a:cxnLst/>
            <a:rect r="r" b="b" t="t" l="l"/>
            <a:pathLst>
              <a:path h="6386431" w="6394424">
                <a:moveTo>
                  <a:pt x="0" y="0"/>
                </a:moveTo>
                <a:lnTo>
                  <a:pt x="6394424" y="0"/>
                </a:lnTo>
                <a:lnTo>
                  <a:pt x="6394424" y="6386431"/>
                </a:lnTo>
                <a:lnTo>
                  <a:pt x="0" y="63864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9" id="9"/>
          <p:cNvSpPr/>
          <p:nvPr/>
        </p:nvSpPr>
        <p:spPr>
          <a:xfrm flipH="true" flipV="false" rot="-3444000">
            <a:off x="-3838550" y="4847411"/>
            <a:ext cx="6394424" cy="6386431"/>
          </a:xfrm>
          <a:custGeom>
            <a:avLst/>
            <a:gdLst/>
            <a:ahLst/>
            <a:cxnLst/>
            <a:rect r="r" b="b" t="t" l="l"/>
            <a:pathLst>
              <a:path h="6386431" w="6394424">
                <a:moveTo>
                  <a:pt x="6394424" y="0"/>
                </a:moveTo>
                <a:lnTo>
                  <a:pt x="0" y="0"/>
                </a:lnTo>
                <a:lnTo>
                  <a:pt x="0" y="6386431"/>
                </a:lnTo>
                <a:lnTo>
                  <a:pt x="6394424" y="6386431"/>
                </a:lnTo>
                <a:lnTo>
                  <a:pt x="6394424"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10" id="10"/>
          <p:cNvGrpSpPr/>
          <p:nvPr/>
        </p:nvGrpSpPr>
        <p:grpSpPr>
          <a:xfrm rot="0">
            <a:off x="1028700" y="9921148"/>
            <a:ext cx="16230600" cy="3086100"/>
            <a:chOff x="0" y="0"/>
            <a:chExt cx="4274726" cy="812800"/>
          </a:xfrm>
        </p:grpSpPr>
        <p:sp>
          <p:nvSpPr>
            <p:cNvPr name="Freeform 11" id="11"/>
            <p:cNvSpPr/>
            <p:nvPr/>
          </p:nvSpPr>
          <p:spPr>
            <a:xfrm flipH="false" flipV="false" rot="0">
              <a:off x="0" y="0"/>
              <a:ext cx="4274726" cy="812800"/>
            </a:xfrm>
            <a:custGeom>
              <a:avLst/>
              <a:gdLst/>
              <a:ahLst/>
              <a:cxnLst/>
              <a:rect r="r" b="b" t="t" l="l"/>
              <a:pathLst>
                <a:path h="812800" w="4274726">
                  <a:moveTo>
                    <a:pt x="0" y="0"/>
                  </a:moveTo>
                  <a:lnTo>
                    <a:pt x="4274726" y="0"/>
                  </a:lnTo>
                  <a:lnTo>
                    <a:pt x="4274726" y="812800"/>
                  </a:lnTo>
                  <a:lnTo>
                    <a:pt x="0" y="812800"/>
                  </a:lnTo>
                  <a:close/>
                </a:path>
              </a:pathLst>
            </a:custGeom>
            <a:solidFill>
              <a:srgbClr val="0E62F2"/>
            </a:solidFill>
          </p:spPr>
        </p:sp>
        <p:sp>
          <p:nvSpPr>
            <p:cNvPr name="TextBox 12" id="12"/>
            <p:cNvSpPr txBox="true"/>
            <p:nvPr/>
          </p:nvSpPr>
          <p:spPr>
            <a:xfrm>
              <a:off x="0" y="-47625"/>
              <a:ext cx="4274726" cy="860425"/>
            </a:xfrm>
            <a:prstGeom prst="rect">
              <a:avLst/>
            </a:prstGeom>
          </p:spPr>
          <p:txBody>
            <a:bodyPr anchor="ctr" rtlCol="false" tIns="50800" lIns="50800" bIns="50800" rIns="50800"/>
            <a:lstStyle/>
            <a:p>
              <a:pPr algn="ctr">
                <a:lnSpc>
                  <a:spcPts val="3258"/>
                </a:lnSpc>
              </a:pPr>
            </a:p>
          </p:txBody>
        </p:sp>
      </p:grpSp>
      <p:sp>
        <p:nvSpPr>
          <p:cNvPr name="TextBox 13" id="13"/>
          <p:cNvSpPr txBox="true"/>
          <p:nvPr/>
        </p:nvSpPr>
        <p:spPr>
          <a:xfrm rot="0">
            <a:off x="3772688" y="5156278"/>
            <a:ext cx="10742624" cy="2456245"/>
          </a:xfrm>
          <a:prstGeom prst="rect">
            <a:avLst/>
          </a:prstGeom>
        </p:spPr>
        <p:txBody>
          <a:bodyPr anchor="t" rtlCol="false" tIns="0" lIns="0" bIns="0" rIns="0">
            <a:spAutoFit/>
          </a:bodyPr>
          <a:lstStyle/>
          <a:p>
            <a:pPr algn="ctr" marL="0" indent="0" lvl="0">
              <a:lnSpc>
                <a:spcPts val="9548"/>
              </a:lnSpc>
              <a:spcBef>
                <a:spcPct val="0"/>
              </a:spcBef>
            </a:pPr>
            <a:r>
              <a:rPr lang="en-US" b="true" sz="9007">
                <a:solidFill>
                  <a:srgbClr val="004CCF"/>
                </a:solidFill>
                <a:latin typeface="Aileron Ultra-Bold"/>
                <a:ea typeface="Aileron Ultra-Bold"/>
                <a:cs typeface="Aileron Ultra-Bold"/>
                <a:sym typeface="Aileron Ultra-Bold"/>
              </a:rPr>
              <a:t>Thank you for listening!</a:t>
            </a:r>
          </a:p>
        </p:txBody>
      </p:sp>
      <p:grpSp>
        <p:nvGrpSpPr>
          <p:cNvPr name="Group 14" id="14"/>
          <p:cNvGrpSpPr/>
          <p:nvPr/>
        </p:nvGrpSpPr>
        <p:grpSpPr>
          <a:xfrm rot="0">
            <a:off x="4543292" y="-88946"/>
            <a:ext cx="9140160" cy="4465003"/>
            <a:chOff x="0" y="0"/>
            <a:chExt cx="11572541" cy="5653230"/>
          </a:xfrm>
        </p:grpSpPr>
        <p:sp>
          <p:nvSpPr>
            <p:cNvPr name="Freeform 15" id="15"/>
            <p:cNvSpPr/>
            <p:nvPr/>
          </p:nvSpPr>
          <p:spPr>
            <a:xfrm flipH="false" flipV="false" rot="0">
              <a:off x="0" y="0"/>
              <a:ext cx="11572541" cy="5653231"/>
            </a:xfrm>
            <a:custGeom>
              <a:avLst/>
              <a:gdLst/>
              <a:ahLst/>
              <a:cxnLst/>
              <a:rect r="r" b="b" t="t" l="l"/>
              <a:pathLst>
                <a:path h="5653231" w="11572541">
                  <a:moveTo>
                    <a:pt x="5786270" y="5653231"/>
                  </a:moveTo>
                  <a:cubicBezTo>
                    <a:pt x="2590606" y="5653231"/>
                    <a:pt x="0" y="3122189"/>
                    <a:pt x="0" y="0"/>
                  </a:cubicBezTo>
                  <a:lnTo>
                    <a:pt x="11572541" y="0"/>
                  </a:lnTo>
                  <a:cubicBezTo>
                    <a:pt x="11572541" y="3122189"/>
                    <a:pt x="8981935" y="5653231"/>
                    <a:pt x="5786270" y="5653231"/>
                  </a:cubicBezTo>
                  <a:close/>
                </a:path>
              </a:pathLst>
            </a:custGeom>
            <a:blipFill>
              <a:blip r:embed="rId6"/>
              <a:stretch>
                <a:fillRect l="0" t="-23182" r="0" b="-23182"/>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DAGl7vBjAYg</dc:identifier>
  <dcterms:modified xsi:type="dcterms:W3CDTF">2011-08-01T06:04:30Z</dcterms:modified>
  <cp:revision>1</cp:revision>
  <dc:title>Raven_Shaw_FinalProject</dc:title>
</cp:coreProperties>
</file>